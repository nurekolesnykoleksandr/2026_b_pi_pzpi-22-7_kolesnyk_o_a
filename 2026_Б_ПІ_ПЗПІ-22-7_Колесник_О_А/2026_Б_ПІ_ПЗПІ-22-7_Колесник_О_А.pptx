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72" r:id="rId10"/>
    <p:sldId id="273" r:id="rId11"/>
    <p:sldId id="286" r:id="rId12"/>
    <p:sldId id="287" r:id="rId13"/>
    <p:sldId id="288" r:id="rId14"/>
    <p:sldId id="289" r:id="rId15"/>
    <p:sldId id="290" r:id="rId16"/>
    <p:sldId id="274" r:id="rId17"/>
  </p:sldIdLst>
  <p:sldSz cx="9144000" cy="5143500" type="screen16x9"/>
  <p:notesSz cx="6858000" cy="9144000"/>
  <p:embeddedFontLst>
    <p:embeddedFont>
      <p:font typeface="Economica" charset="0"/>
      <p:regular r:id="rId19"/>
      <p:bold r:id="rId20"/>
      <p:italic r:id="rId21"/>
      <p:boldItalic r:id="rId22"/>
    </p:embeddedFont>
    <p:embeddedFont>
      <p:font typeface="Open Sans" pitchFamily="3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-74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402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24950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xmlns="" id="{91AEDB7C-42EF-B58D-B7FB-8F8CEBFE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xmlns="" id="{A1E9EDC9-D9A9-A810-3E78-674BD542E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xmlns="" id="{0486EE1B-94E9-401D-B86B-FAC4482A2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54261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94944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xmlns="" id="{DD5F3F8B-F0A1-DD80-7081-356D6A199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xmlns="" id="{CDEDC7E3-39F4-C183-8E0F-494F71931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xmlns="" id="{8DE13F18-F670-EDF2-143F-56C981D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983811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xmlns="" id="{687275AA-36CC-1A59-F7B0-D96D3547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xmlns="" id="{1C917EE6-D388-97AA-1378-41CC343C2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xmlns="" id="{C2269977-75A3-7982-C074-419CEBC5F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46152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xmlns="" id="{D8F0887B-66E7-C3AC-982F-00351761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xmlns="" id="{7926D231-1935-C29D-5D5C-0BA7B61CC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xmlns="" id="{1E7E7E54-DD82-4004-6C73-0ACD17346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63059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xmlns="" id="{6CECD8A4-1A87-23D3-10CC-196967D1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xmlns="" id="{A09FB29E-9FE0-3F73-2F1A-6F97505B4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xmlns="" id="{77A06B8A-EE5C-B987-346C-DC9645835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59552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xmlns="" id="{53C263C5-281F-ED3A-1D88-DC867D77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xmlns="" id="{6F29A430-0A8C-CF1D-6587-D441F6AA5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xmlns="" id="{FDE39DCE-D19E-C26A-90FE-EC5217ABC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41813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5122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31522" y="808382"/>
            <a:ext cx="3281100" cy="11252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Веб-додаток для пошуку друзів. </a:t>
            </a:r>
            <a:r>
              <a:rPr lang="en-US" sz="2400" dirty="0"/>
              <a:t>Back – end.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527362" y="1499120"/>
            <a:ext cx="3889420" cy="1381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9600" dirty="0"/>
              <a:t>Колесник</a:t>
            </a:r>
            <a:r>
              <a:rPr lang="uk" sz="9600" dirty="0"/>
              <a:t> Олександр  Андрійович, ПЗПІ-22-7</a:t>
            </a:r>
            <a:endParaRPr sz="9600" dirty="0"/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Керівник:</a:t>
            </a:r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dirty="0"/>
              <a:t>Д</a:t>
            </a:r>
            <a:r>
              <a:rPr lang="uk" sz="9600" dirty="0"/>
              <a:t>оц.каф.ПІ</a:t>
            </a:r>
          </a:p>
          <a:p>
            <a:pPr marL="0" lvl="0" indent="0" algn="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Кравець Наталя Сергіївна</a:t>
            </a:r>
            <a:endParaRPr sz="9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9600" dirty="0"/>
              <a:t>10 червня 2026</a:t>
            </a:r>
            <a:endParaRPr sz="96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4182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uk-UA" dirty="0"/>
              <a:t>Метою роботи є розробка серверної частини веб-додатку </a:t>
            </a:r>
            <a:r>
              <a:rPr lang="uk-UA" dirty="0" err="1"/>
              <a:t>Bokado</a:t>
            </a:r>
            <a:r>
              <a:rPr lang="uk-UA" dirty="0"/>
              <a:t> — соціальної платформи для пошуку друзів за спільними інтересами. Основне завдання полягало у створенні надійного та масштабованого </a:t>
            </a:r>
            <a:r>
              <a:rPr lang="uk-UA" dirty="0" err="1"/>
              <a:t>RESTful</a:t>
            </a:r>
            <a:r>
              <a:rPr lang="uk-UA" dirty="0"/>
              <a:t> API, яке забезпечує всі необхідні функції для роботи додатку.</a:t>
            </a:r>
          </a:p>
          <a:p>
            <a:pPr marL="114300" indent="0">
              <a:buNone/>
            </a:pPr>
            <a:r>
              <a:rPr lang="uk-UA" dirty="0"/>
              <a:t>Серверна частина реалізована на ASP.NET </a:t>
            </a:r>
            <a:r>
              <a:rPr lang="uk-UA" dirty="0" err="1"/>
              <a:t>Core</a:t>
            </a:r>
            <a:r>
              <a:rPr lang="uk-UA" dirty="0"/>
              <a:t> 8 з використанням JWT-автентифікації, </a:t>
            </a:r>
            <a:r>
              <a:rPr lang="uk-UA" dirty="0" err="1"/>
              <a:t>SignalR</a:t>
            </a:r>
            <a:r>
              <a:rPr lang="uk-UA" dirty="0"/>
              <a:t> для чатів у реальному часі та </a:t>
            </a:r>
            <a:r>
              <a:rPr lang="uk-UA" dirty="0" err="1"/>
              <a:t>PostgreSQL</a:t>
            </a:r>
            <a:r>
              <a:rPr lang="uk-UA" dirty="0"/>
              <a:t> як основної бази даних. Система підтримує управління користувачами, систему дружби, особисті та групові чати, події, </a:t>
            </a:r>
            <a:r>
              <a:rPr lang="uk-UA" dirty="0" err="1"/>
              <a:t>челенджі</a:t>
            </a:r>
            <a:r>
              <a:rPr lang="uk-UA" dirty="0"/>
              <a:t> та адміністративну панель.</a:t>
            </a:r>
          </a:p>
          <a:p>
            <a:pPr marL="114300" indent="0">
              <a:buNone/>
            </a:pPr>
            <a:r>
              <a:rPr lang="uk-UA" dirty="0"/>
              <a:t>Актуальність роботи зумовлена зростанням попиту на соціальні платформи з персоналізованим функціоналом та елементами </a:t>
            </a:r>
            <a:r>
              <a:rPr lang="uk-UA" dirty="0" err="1"/>
              <a:t>гейміфікації</a:t>
            </a:r>
            <a:r>
              <a:rPr lang="uk-UA" dirty="0"/>
              <a:t>, орієнтовані на українськомовних користувачів.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uk-UA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840911"/>
            <a:ext cx="5499653" cy="3174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114300" indent="0">
              <a:buNone/>
            </a:pPr>
            <a:r>
              <a:rPr lang="uk-UA" sz="2200" dirty="0"/>
              <a:t>У процесі аналізу предметної галузі було досліджено три популярні платформи соціального спрямування: </a:t>
            </a:r>
            <a:r>
              <a:rPr lang="uk-UA" sz="2200" dirty="0" err="1"/>
              <a:t>Tinder</a:t>
            </a:r>
            <a:r>
              <a:rPr lang="uk-UA" sz="2200" dirty="0"/>
              <a:t>, </a:t>
            </a:r>
            <a:r>
              <a:rPr lang="uk-UA" sz="2200" dirty="0" err="1"/>
              <a:t>Bumble</a:t>
            </a:r>
            <a:r>
              <a:rPr lang="uk-UA" sz="2200" dirty="0"/>
              <a:t> та </a:t>
            </a:r>
            <a:r>
              <a:rPr lang="uk-UA" sz="2200" dirty="0" err="1"/>
              <a:t>Badoo</a:t>
            </a:r>
            <a:r>
              <a:rPr lang="uk-UA" sz="2200" dirty="0"/>
              <a:t>.</a:t>
            </a:r>
          </a:p>
          <a:p>
            <a:pPr marL="114300" indent="0">
              <a:buNone/>
            </a:pPr>
            <a:r>
              <a:rPr lang="uk-UA" sz="2200" b="1" dirty="0" err="1"/>
              <a:t>Tinder</a:t>
            </a:r>
            <a:r>
              <a:rPr lang="uk-UA" sz="2200" dirty="0"/>
              <a:t> є лідером ринку завдяки простому інтерфейсу та </a:t>
            </a:r>
            <a:r>
              <a:rPr lang="uk-UA" sz="2200" dirty="0" err="1"/>
              <a:t>механіці</a:t>
            </a:r>
            <a:r>
              <a:rPr lang="uk-UA" sz="2200" dirty="0"/>
              <a:t> </a:t>
            </a:r>
            <a:r>
              <a:rPr lang="uk-UA" sz="2200" dirty="0" err="1"/>
              <a:t>свайпів</a:t>
            </a:r>
            <a:r>
              <a:rPr lang="uk-UA" sz="2200" dirty="0"/>
              <a:t>, однак має жорсткі обмеження безкоштовної версії, примітивні алгоритми підбору та низький рівень захисту персональних даних.</a:t>
            </a:r>
          </a:p>
          <a:p>
            <a:pPr marL="114300" indent="0">
              <a:buNone/>
            </a:pPr>
            <a:endParaRPr lang="uk-UA" sz="2200" dirty="0"/>
          </a:p>
          <a:p>
            <a:pPr marL="114300" indent="0">
              <a:buNone/>
            </a:pPr>
            <a:r>
              <a:rPr lang="uk-UA" sz="2200" b="1" dirty="0" err="1"/>
              <a:t>Bumble</a:t>
            </a:r>
            <a:r>
              <a:rPr lang="uk-UA" sz="2200" dirty="0"/>
              <a:t> запровадив цікаву концепцію де ініціатива першого кроку належить жінкам. Сервіс має вищий рівень безпеки та розширені фільтри, але відсутня українська локалізація і є жорсткі часові обмеження на відповідь.</a:t>
            </a:r>
          </a:p>
          <a:p>
            <a:pPr marL="114300" indent="0">
              <a:buNone/>
            </a:pPr>
            <a:endParaRPr lang="uk-UA" sz="2200" dirty="0"/>
          </a:p>
          <a:p>
            <a:pPr marL="114300" indent="0">
              <a:buNone/>
            </a:pPr>
            <a:r>
              <a:rPr lang="uk-UA" sz="2200" b="1" dirty="0" err="1"/>
              <a:t>Badoo</a:t>
            </a:r>
            <a:r>
              <a:rPr lang="uk-UA" sz="2200" dirty="0"/>
              <a:t> виділяється глобальною базою користувачів та різними формами комунікації, однак страждає від нав'язливої реклами, великої кількості фейкових акаунтів та застарілого інтерфейсу.</a:t>
            </a:r>
          </a:p>
          <a:p>
            <a:pPr marL="114300" indent="0">
              <a:buNone/>
            </a:pPr>
            <a:endParaRPr lang="ru-RU" sz="11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3</a:t>
            </a:fld>
            <a:endParaRPr lang="uk-UA" dirty="0"/>
          </a:p>
        </p:txBody>
      </p:sp>
      <p:pic>
        <p:nvPicPr>
          <p:cNvPr id="3" name="Рисунок 2" descr="Якщо всі одружаться, то бізнес помре. Історія Tinder | DOU">
            <a:extLst>
              <a:ext uri="{FF2B5EF4-FFF2-40B4-BE49-F238E27FC236}">
                <a16:creationId xmlns:a16="http://schemas.microsoft.com/office/drawing/2014/main" xmlns="" id="{01CEDB88-C1D2-E0C8-5208-078619EA59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03234" y="840911"/>
            <a:ext cx="2672839" cy="150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D708793-5A7D-BF52-5030-688C20331A5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03234" y="2799539"/>
            <a:ext cx="2672840" cy="1374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85596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/>
              <a:t>При детальному аналізі всіх трьох платформ було виявлено спільні системні проблеми, які притаманні більшості існуючих рішень на ринку.</a:t>
            </a:r>
          </a:p>
          <a:p>
            <a:pPr marL="114300" indent="0">
              <a:buNone/>
            </a:pPr>
            <a:r>
              <a:rPr lang="uk-UA" b="1" dirty="0"/>
              <a:t>По-перше</a:t>
            </a:r>
            <a:r>
              <a:rPr lang="uk-UA" dirty="0"/>
              <a:t>, жодна з платформ не адаптована до українського ринку — відсутня локалізація, не враховуються культурні особливості. По-друге, базові функції надмірно комерціалізовані, що відштовхує нових користувачів. По-третє, рівень захисту персональних даних залишається недостатнім, що створює ризики для конфіденційності.</a:t>
            </a:r>
          </a:p>
          <a:p>
            <a:pPr marL="114300" indent="0">
              <a:buNone/>
            </a:pPr>
            <a:r>
              <a:rPr lang="uk-UA" dirty="0"/>
              <a:t>Крім того, алгоритми пошуку є примітивними і не враховують глибоких інтересів користувача. Платформи технічно нестабільні під навантаженням і не мають інструментів для глибокої персоналізації профілю.</a:t>
            </a:r>
          </a:p>
          <a:p>
            <a:pPr marL="114300" indent="0">
              <a:buNone/>
            </a:pPr>
            <a:r>
              <a:rPr lang="uk-UA" dirty="0"/>
              <a:t>Ці прогалини обґрунтовують необхідність створення нового веб-додатку </a:t>
            </a:r>
            <a:r>
              <a:rPr lang="uk-UA" dirty="0" err="1"/>
              <a:t>Bokado</a:t>
            </a:r>
            <a:r>
              <a:rPr lang="uk-UA" dirty="0"/>
              <a:t>, який враховує реальні потреби українських користувачів і пропонує сучасний технічний стек з надійним захистом даних.</a:t>
            </a:r>
          </a:p>
          <a:p>
            <a:pPr marL="114300" indent="0">
              <a:buNone/>
            </a:pPr>
            <a:endParaRPr lang="ru-RU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xmlns="" val="121212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err="1"/>
              <a:t>Виб</a:t>
            </a:r>
            <a:r>
              <a:rPr lang="uk-UA" sz="3200" dirty="0" err="1"/>
              <a:t>ір</a:t>
            </a:r>
            <a:r>
              <a:rPr lang="uk-UA" sz="3200" dirty="0"/>
              <a:t> технологій розробки 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68925" y="70183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/>
              <a:t>У процесі розробки серверної частини соціальної платформи </a:t>
            </a:r>
            <a:r>
              <a:rPr lang="uk-UA" dirty="0" err="1"/>
              <a:t>Bokado</a:t>
            </a:r>
            <a:r>
              <a:rPr lang="uk-UA" dirty="0"/>
              <a:t> було використано низку сучасних технологій, що забезпечують продуктивність, безпеку та масштабованість системи.</a:t>
            </a:r>
          </a:p>
          <a:p>
            <a:pPr marL="114300" indent="0">
              <a:buNone/>
            </a:pPr>
            <a:r>
              <a:rPr lang="uk-UA" dirty="0"/>
              <a:t>Основним фреймворком для реалізації бізнес-логіки та побудови </a:t>
            </a:r>
            <a:r>
              <a:rPr lang="uk-UA" dirty="0" err="1"/>
              <a:t>RESTful</a:t>
            </a:r>
            <a:r>
              <a:rPr lang="uk-UA" dirty="0"/>
              <a:t> API обрано .NET 8.0. </a:t>
            </a:r>
            <a:r>
              <a:rPr lang="uk-UA" dirty="0" err="1"/>
              <a:t>PostgreSQL</a:t>
            </a:r>
            <a:r>
              <a:rPr lang="uk-UA" dirty="0"/>
              <a:t> 15 застосовується як основна реляційна база даних, що містить 18 таблиць із підтримкою складних запитів та транзакцій.</a:t>
            </a:r>
          </a:p>
          <a:p>
            <a:pPr marL="114300" indent="0">
              <a:buNone/>
            </a:pPr>
            <a:r>
              <a:rPr lang="uk-UA" dirty="0"/>
              <a:t>Для безпечної автентифікації та авторизації використовується JWT </a:t>
            </a:r>
            <a:r>
              <a:rPr lang="uk-UA" dirty="0" err="1"/>
              <a:t>Bearer</a:t>
            </a:r>
            <a:r>
              <a:rPr lang="uk-UA" dirty="0"/>
              <a:t> </a:t>
            </a:r>
            <a:r>
              <a:rPr lang="uk-UA" dirty="0" err="1"/>
              <a:t>Token</a:t>
            </a:r>
            <a:r>
              <a:rPr lang="uk-UA" dirty="0"/>
              <a:t> — токен містить </a:t>
            </a:r>
            <a:r>
              <a:rPr lang="uk-UA" dirty="0" err="1"/>
              <a:t>userId</a:t>
            </a:r>
            <a:r>
              <a:rPr lang="uk-UA" dirty="0"/>
              <a:t>, </a:t>
            </a:r>
            <a:r>
              <a:rPr lang="uk-UA" dirty="0" err="1"/>
              <a:t>email</a:t>
            </a:r>
            <a:r>
              <a:rPr lang="uk-UA" dirty="0"/>
              <a:t>, роль та </a:t>
            </a:r>
            <a:r>
              <a:rPr lang="uk-UA" dirty="0" err="1"/>
              <a:t>isPremium</a:t>
            </a:r>
            <a:r>
              <a:rPr lang="uk-UA" dirty="0"/>
              <a:t> і передається у кожному захищеному запиті. </a:t>
            </a:r>
            <a:r>
              <a:rPr lang="uk-UA" dirty="0" err="1"/>
              <a:t>SignalR</a:t>
            </a:r>
            <a:r>
              <a:rPr lang="uk-UA" dirty="0"/>
              <a:t> забезпечує двосторонню комунікацію в реальному часі через </a:t>
            </a:r>
            <a:r>
              <a:rPr lang="uk-UA" dirty="0" err="1"/>
              <a:t>WebSocket</a:t>
            </a:r>
            <a:r>
              <a:rPr lang="uk-UA" dirty="0"/>
              <a:t> для чатів та </a:t>
            </a:r>
            <a:r>
              <a:rPr lang="uk-UA" dirty="0" err="1"/>
              <a:t>push</a:t>
            </a:r>
            <a:r>
              <a:rPr lang="uk-UA" dirty="0"/>
              <a:t>-сповіщень.</a:t>
            </a:r>
          </a:p>
          <a:p>
            <a:pPr marL="114300" indent="0">
              <a:buNone/>
            </a:pPr>
            <a:r>
              <a:rPr lang="uk-UA" dirty="0" err="1"/>
              <a:t>Медіафайли</a:t>
            </a:r>
            <a:r>
              <a:rPr lang="uk-UA" dirty="0"/>
              <a:t> зберігаються на </a:t>
            </a:r>
            <a:r>
              <a:rPr lang="uk-UA" dirty="0" err="1"/>
              <a:t>Cloudinary</a:t>
            </a:r>
            <a:r>
              <a:rPr lang="uk-UA" dirty="0"/>
              <a:t> CDN, документація та тестування API реалізовані через </a:t>
            </a:r>
            <a:r>
              <a:rPr lang="uk-UA" dirty="0" err="1"/>
              <a:t>Swagger</a:t>
            </a:r>
            <a:r>
              <a:rPr lang="uk-UA" dirty="0"/>
              <a:t>, захищений обмін між клієнтом і сервером забезпечується HTTPS та CORS, а контроль версій здійснюється через </a:t>
            </a:r>
            <a:r>
              <a:rPr lang="uk-UA" dirty="0" err="1"/>
              <a:t>Git</a:t>
            </a:r>
            <a:r>
              <a:rPr lang="uk-UA" dirty="0"/>
              <a:t> та </a:t>
            </a:r>
            <a:r>
              <a:rPr lang="uk-UA" dirty="0" err="1"/>
              <a:t>GitHub</a:t>
            </a:r>
            <a:r>
              <a:rPr lang="uk-UA" dirty="0"/>
              <a:t>.</a:t>
            </a:r>
          </a:p>
          <a:p>
            <a:pPr marL="114300" indent="0">
              <a:buNone/>
            </a:pPr>
            <a:endParaRPr lang="ru-RU" b="1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5</a:t>
            </a:fld>
            <a:endParaRPr lang="uk-UA" dirty="0"/>
          </a:p>
        </p:txBody>
      </p:sp>
      <p:pic>
        <p:nvPicPr>
          <p:cNvPr id="3" name="Рисунок 2" descr="в PostgreSQL равнина словесный логотип значок">
            <a:extLst>
              <a:ext uri="{FF2B5EF4-FFF2-40B4-BE49-F238E27FC236}">
                <a16:creationId xmlns:a16="http://schemas.microsoft.com/office/drawing/2014/main" xmlns="" id="{C4456CCD-1707-5542-E3EF-5E8F4734D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775" y="4018740"/>
            <a:ext cx="1003852" cy="1003852"/>
          </a:xfrm>
          <a:prstGeom prst="rect">
            <a:avLst/>
          </a:prstGeom>
        </p:spPr>
      </p:pic>
      <p:pic>
        <p:nvPicPr>
          <p:cNvPr id="4" name="Рисунок 3" descr="Cloudinary Reviews &amp; Ratings 2026 | TrustRadius">
            <a:extLst>
              <a:ext uri="{FF2B5EF4-FFF2-40B4-BE49-F238E27FC236}">
                <a16:creationId xmlns:a16="http://schemas.microsoft.com/office/drawing/2014/main" xmlns="" id="{4778A82C-699E-C32A-E871-84FE90505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348" y="3897831"/>
            <a:ext cx="1087662" cy="10876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ACEB3453-0FBD-33D4-2B0A-4AC8CAFCA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132" y="4022941"/>
            <a:ext cx="837441" cy="8374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B2D31389-01B1-B95D-67A1-C9E47B1402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064" y="4042460"/>
            <a:ext cx="831300" cy="8313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A687A3BD-0F7E-C9E6-B9B1-A290881C6A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6241" y="3957694"/>
            <a:ext cx="1057689" cy="105416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E18FD3F1-ED34-1F23-03A7-2B94CD593A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3652" y="4091511"/>
            <a:ext cx="668726" cy="6687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02242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Архітектура </a:t>
            </a:r>
            <a:r>
              <a:rPr lang="uk-UA" sz="3200" dirty="0" err="1"/>
              <a:t>створенного</a:t>
            </a:r>
            <a:r>
              <a:rPr lang="uk-UA" sz="3200" dirty="0"/>
              <a:t> програмного забезпечення 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05683" y="807914"/>
            <a:ext cx="9044609" cy="58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1100" dirty="0"/>
              <a:t>Серверна частина системи реалізована на основі шарової архітектури з чітким розподілом </a:t>
            </a:r>
            <a:r>
              <a:rPr lang="uk-UA" sz="1100" dirty="0" err="1"/>
              <a:t>відповідальностей</a:t>
            </a:r>
            <a:r>
              <a:rPr lang="uk-UA" sz="1100" dirty="0"/>
              <a:t> між компонентами. Архітектура включає три основні шари: контролери, репозиторії та доступ до даних.</a:t>
            </a:r>
          </a:p>
          <a:p>
            <a:pPr marL="114300" indent="0">
              <a:buNone/>
            </a:pPr>
            <a:endParaRPr lang="ru-RU" sz="11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8" y="4413125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6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076208CE-83F9-FE7D-C92A-FAC39E81497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1598" y="1731492"/>
            <a:ext cx="3116576" cy="2972508"/>
          </a:xfrm>
          <a:prstGeom prst="rect">
            <a:avLst/>
          </a:prstGeom>
        </p:spPr>
      </p:pic>
      <p:sp>
        <p:nvSpPr>
          <p:cNvPr id="7" name="Google Shape;86;p16">
            <a:extLst>
              <a:ext uri="{FF2B5EF4-FFF2-40B4-BE49-F238E27FC236}">
                <a16:creationId xmlns:a16="http://schemas.microsoft.com/office/drawing/2014/main" xmlns="" id="{726463BC-AC73-2BC4-4619-9D2C78AF11E5}"/>
              </a:ext>
            </a:extLst>
          </p:cNvPr>
          <p:cNvSpPr txBox="1">
            <a:spLocks/>
          </p:cNvSpPr>
          <p:nvPr/>
        </p:nvSpPr>
        <p:spPr>
          <a:xfrm>
            <a:off x="1619057" y="1359615"/>
            <a:ext cx="2190943" cy="4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en-US" sz="1100" b="1" dirty="0"/>
              <a:t>Use case </a:t>
            </a:r>
            <a:r>
              <a:rPr lang="uk-UA" sz="1100" b="1" dirty="0"/>
              <a:t>діаграма</a:t>
            </a:r>
            <a:endParaRPr lang="ru-RU" sz="11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5CCDD6EC-7385-1776-C30C-8AD6D3E19D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11696" y="1639214"/>
            <a:ext cx="3379344" cy="311831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86;p16">
            <a:extLst>
              <a:ext uri="{FF2B5EF4-FFF2-40B4-BE49-F238E27FC236}">
                <a16:creationId xmlns:a16="http://schemas.microsoft.com/office/drawing/2014/main" xmlns="" id="{AC428359-69B1-9A2B-EE53-E144245A9729}"/>
              </a:ext>
            </a:extLst>
          </p:cNvPr>
          <p:cNvSpPr txBox="1">
            <a:spLocks/>
          </p:cNvSpPr>
          <p:nvPr/>
        </p:nvSpPr>
        <p:spPr>
          <a:xfrm>
            <a:off x="5760361" y="1313476"/>
            <a:ext cx="2190943" cy="4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uk-UA" sz="1100" b="1" dirty="0"/>
              <a:t>Діаграма розгортання</a:t>
            </a:r>
            <a:endParaRPr lang="ru-RU" sz="1100" b="1" dirty="0"/>
          </a:p>
        </p:txBody>
      </p:sp>
    </p:spTree>
    <p:extLst>
      <p:ext uri="{BB962C8B-B14F-4D97-AF65-F5344CB8AC3E}">
        <p14:creationId xmlns:p14="http://schemas.microsoft.com/office/powerpoint/2010/main" xmlns="" val="80003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11832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uk-UA" sz="3200" dirty="0"/>
              <a:t>Архітектура </a:t>
            </a:r>
            <a:r>
              <a:rPr lang="uk-UA" sz="3200" dirty="0" err="1"/>
              <a:t>створенного</a:t>
            </a:r>
            <a:r>
              <a:rPr lang="uk-UA" sz="3200" dirty="0"/>
              <a:t> програмного забезпечення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62559" y="852110"/>
            <a:ext cx="8818882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/>
              <a:t>Структура бази даних реалізована у </a:t>
            </a:r>
            <a:r>
              <a:rPr lang="uk-UA" dirty="0" err="1"/>
              <a:t>PostgreSQL</a:t>
            </a:r>
            <a:r>
              <a:rPr lang="uk-UA" dirty="0"/>
              <a:t> 15 і містить вісімнадцять таблиць, розроблених з урахуванням принципів нормалізації.</a:t>
            </a:r>
            <a:endParaRPr lang="en-US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7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913DCD9-81F1-6299-A31E-C41B945BAD9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31175" y="1970940"/>
            <a:ext cx="3287824" cy="2528221"/>
          </a:xfrm>
          <a:prstGeom prst="rect">
            <a:avLst/>
          </a:prstGeom>
        </p:spPr>
      </p:pic>
      <p:sp>
        <p:nvSpPr>
          <p:cNvPr id="4" name="Google Shape;93;p17">
            <a:extLst>
              <a:ext uri="{FF2B5EF4-FFF2-40B4-BE49-F238E27FC236}">
                <a16:creationId xmlns:a16="http://schemas.microsoft.com/office/drawing/2014/main" xmlns="" id="{401F29D3-2E61-1D96-A267-EFA8494DF317}"/>
              </a:ext>
            </a:extLst>
          </p:cNvPr>
          <p:cNvSpPr txBox="1">
            <a:spLocks/>
          </p:cNvSpPr>
          <p:nvPr/>
        </p:nvSpPr>
        <p:spPr>
          <a:xfrm>
            <a:off x="1807898" y="1577345"/>
            <a:ext cx="1762100" cy="47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en-US" b="1" dirty="0"/>
              <a:t>ER - </a:t>
            </a:r>
            <a:r>
              <a:rPr lang="uk-UA" b="1" dirty="0"/>
              <a:t>діаграма</a:t>
            </a:r>
            <a:endParaRPr lang="en-US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E2A6BEC-730C-FA92-5B65-47FC12B53D4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18715" y="1930869"/>
            <a:ext cx="3124746" cy="2719506"/>
          </a:xfrm>
          <a:prstGeom prst="rect">
            <a:avLst/>
          </a:prstGeom>
        </p:spPr>
      </p:pic>
      <p:sp>
        <p:nvSpPr>
          <p:cNvPr id="7" name="Google Shape;93;p17">
            <a:extLst>
              <a:ext uri="{FF2B5EF4-FFF2-40B4-BE49-F238E27FC236}">
                <a16:creationId xmlns:a16="http://schemas.microsoft.com/office/drawing/2014/main" xmlns="" id="{60DA9C37-4203-1A2B-0386-707FB0AB4C47}"/>
              </a:ext>
            </a:extLst>
          </p:cNvPr>
          <p:cNvSpPr txBox="1">
            <a:spLocks/>
          </p:cNvSpPr>
          <p:nvPr/>
        </p:nvSpPr>
        <p:spPr>
          <a:xfrm>
            <a:off x="5574001" y="1547779"/>
            <a:ext cx="1979737" cy="47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ru-RU" b="1" dirty="0" err="1"/>
              <a:t>Даталогічна</a:t>
            </a:r>
            <a:r>
              <a:rPr lang="ru-RU" b="1" dirty="0"/>
              <a:t> модель БД 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Опис програмного забезпечення, що було використано у дослідженнях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/>
              <a:t>Процес розробки серверної частини </a:t>
            </a:r>
            <a:r>
              <a:rPr lang="uk-UA" dirty="0" err="1"/>
              <a:t>Bokado</a:t>
            </a:r>
            <a:r>
              <a:rPr lang="uk-UA" dirty="0"/>
              <a:t> складався з чотирьох основних етапів.</a:t>
            </a:r>
          </a:p>
          <a:p>
            <a:pPr marL="114300" indent="0">
              <a:buNone/>
            </a:pPr>
            <a:r>
              <a:rPr lang="uk-UA" dirty="0"/>
              <a:t>На </a:t>
            </a:r>
            <a:r>
              <a:rPr lang="uk-UA" b="1" dirty="0"/>
              <a:t>першому етапі </a:t>
            </a:r>
            <a:r>
              <a:rPr lang="uk-UA" dirty="0"/>
              <a:t>проводився аналіз вимог та створення специфікації програмної системи у форматі SRS відповідно до стандарту IEEE 830. На </a:t>
            </a:r>
            <a:r>
              <a:rPr lang="uk-UA" b="1" dirty="0"/>
              <a:t>другому етапі </a:t>
            </a:r>
            <a:r>
              <a:rPr lang="uk-UA" dirty="0"/>
              <a:t>було </a:t>
            </a:r>
            <a:r>
              <a:rPr lang="uk-UA" dirty="0" err="1"/>
              <a:t>спроектовано</a:t>
            </a:r>
            <a:r>
              <a:rPr lang="uk-UA" dirty="0"/>
              <a:t> архітектуру та побудовано UML-діаграми: варіантів використання, класів, </a:t>
            </a:r>
            <a:r>
              <a:rPr lang="uk-UA" dirty="0" err="1"/>
              <a:t>активностей</a:t>
            </a:r>
            <a:r>
              <a:rPr lang="uk-UA" dirty="0"/>
              <a:t>, компонентів, розгортання та діаграму станів алгоритму.</a:t>
            </a:r>
          </a:p>
          <a:p>
            <a:pPr marL="114300" indent="0">
              <a:buNone/>
            </a:pPr>
            <a:r>
              <a:rPr lang="uk-UA" b="1" dirty="0"/>
              <a:t>Третій етап </a:t>
            </a:r>
            <a:r>
              <a:rPr lang="uk-UA" dirty="0"/>
              <a:t>включав безпосередню реалізацію логіки </a:t>
            </a:r>
            <a:r>
              <a:rPr lang="uk-UA" dirty="0" err="1"/>
              <a:t>RESTful</a:t>
            </a:r>
            <a:r>
              <a:rPr lang="uk-UA" dirty="0"/>
              <a:t> API з тринадцятьма контролерами та дванадцятьма репозиторіями. Четвертий етап — тестування функціональних можливостей через </a:t>
            </a:r>
            <a:r>
              <a:rPr lang="uk-UA" dirty="0" err="1"/>
              <a:t>Swagger</a:t>
            </a:r>
            <a:r>
              <a:rPr lang="uk-UA" dirty="0"/>
              <a:t> UI та перевірка продуктивності.</a:t>
            </a:r>
          </a:p>
          <a:p>
            <a:pPr marL="114300" indent="0">
              <a:buNone/>
            </a:pPr>
            <a:r>
              <a:rPr lang="uk-UA" dirty="0"/>
              <a:t>Серед використаних інструментів: </a:t>
            </a:r>
            <a:r>
              <a:rPr lang="uk-UA" dirty="0" err="1"/>
              <a:t>Visual</a:t>
            </a:r>
            <a:r>
              <a:rPr lang="uk-UA" dirty="0"/>
              <a:t> </a:t>
            </a:r>
            <a:r>
              <a:rPr lang="uk-UA" dirty="0" err="1"/>
              <a:t>Studio</a:t>
            </a:r>
            <a:r>
              <a:rPr lang="uk-UA" dirty="0"/>
              <a:t> як середовище розробки, .NET 8.0 як основний фреймворк, </a:t>
            </a:r>
            <a:r>
              <a:rPr lang="uk-UA" dirty="0" err="1"/>
              <a:t>PostgreSQL</a:t>
            </a:r>
            <a:r>
              <a:rPr lang="uk-UA" dirty="0"/>
              <a:t> 15 з </a:t>
            </a:r>
            <a:r>
              <a:rPr lang="uk-UA" dirty="0" err="1"/>
              <a:t>pgAdmin</a:t>
            </a:r>
            <a:r>
              <a:rPr lang="uk-UA" dirty="0"/>
              <a:t> для адміністрування бази даних, JWT та CORS для безпеки, </a:t>
            </a:r>
            <a:r>
              <a:rPr lang="uk-UA" dirty="0" err="1"/>
              <a:t>Swagger</a:t>
            </a:r>
            <a:r>
              <a:rPr lang="uk-UA" dirty="0"/>
              <a:t> для документування API, </a:t>
            </a:r>
            <a:r>
              <a:rPr lang="uk-UA" dirty="0" err="1"/>
              <a:t>Git</a:t>
            </a:r>
            <a:r>
              <a:rPr lang="uk-UA" dirty="0"/>
              <a:t> і </a:t>
            </a:r>
            <a:r>
              <a:rPr lang="uk-UA" dirty="0" err="1"/>
              <a:t>GitHub</a:t>
            </a:r>
            <a:r>
              <a:rPr lang="uk-UA" dirty="0"/>
              <a:t> для контролю версій.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xmlns="" id="{8B5A94D2-3E7A-FCF6-67A8-B520BE29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xmlns="" id="{5FBEE37D-6C40-0645-1D6D-6713A23F2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782" y="0"/>
            <a:ext cx="8520600" cy="581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Дизайн системи</a:t>
            </a:r>
            <a:endParaRPr sz="3200" dirty="0"/>
          </a:p>
        </p:txBody>
      </p:sp>
      <p:sp>
        <p:nvSpPr>
          <p:cNvPr id="100" name="Google Shape;100;p18">
            <a:extLst>
              <a:ext uri="{FF2B5EF4-FFF2-40B4-BE49-F238E27FC236}">
                <a16:creationId xmlns:a16="http://schemas.microsoft.com/office/drawing/2014/main" xmlns="" id="{7D6AADB6-B6DD-4D58-B519-0664A038A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5" y="581751"/>
            <a:ext cx="5356624" cy="4024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uk-UA" sz="1200" dirty="0"/>
              <a:t>Інтерфейс застосунку </a:t>
            </a:r>
            <a:r>
              <a:rPr lang="uk-UA" sz="1200" dirty="0" err="1"/>
              <a:t>Bokado</a:t>
            </a:r>
            <a:r>
              <a:rPr lang="uk-UA" sz="1200" dirty="0"/>
              <a:t> безпосередньо відображає структуру серверного API. Кожен екран відповідає конкретним </a:t>
            </a:r>
            <a:r>
              <a:rPr lang="uk-UA" sz="1200" dirty="0" err="1"/>
              <a:t>endpoint-ам</a:t>
            </a:r>
            <a:r>
              <a:rPr lang="uk-UA" sz="1200" dirty="0"/>
              <a:t>, а доступність функціональних елементів визначається роллю користувача в JWT-токені.</a:t>
            </a:r>
          </a:p>
          <a:p>
            <a:r>
              <a:rPr lang="uk-UA" sz="1200" dirty="0"/>
              <a:t>З боку серверної логіки реалізовано </a:t>
            </a:r>
            <a:r>
              <a:rPr lang="uk-UA" sz="1200" dirty="0" err="1"/>
              <a:t>проектування</a:t>
            </a:r>
            <a:r>
              <a:rPr lang="uk-UA" sz="1200" dirty="0"/>
              <a:t> структури бази даних із ER-діаграмою та оптимізацією запитів, розробку модулів обробки запитів відповідно до REST-архітектури, а також бізнес-логіку для управління користувачами, друзями, подіями та </a:t>
            </a:r>
            <a:r>
              <a:rPr lang="uk-UA" sz="1200" dirty="0" err="1"/>
              <a:t>челенджами</a:t>
            </a:r>
            <a:r>
              <a:rPr lang="uk-UA" sz="1200" dirty="0"/>
              <a:t>.</a:t>
            </a:r>
          </a:p>
          <a:p>
            <a:r>
              <a:rPr lang="uk-UA" sz="1200" dirty="0"/>
              <a:t>З боку інтеграцій реалізовано побудову API з урахуванням ролей користувачів — звичайний та адміністратор, впровадження системи аналітики та </a:t>
            </a:r>
            <a:r>
              <a:rPr lang="uk-UA" sz="1200" dirty="0" err="1"/>
              <a:t>гейміфікаційних</a:t>
            </a:r>
            <a:r>
              <a:rPr lang="uk-UA" sz="1200" dirty="0"/>
              <a:t> механізмів через систему рівнів і балів, а також підключення зовнішніх сервісів </a:t>
            </a:r>
            <a:r>
              <a:rPr lang="uk-UA" sz="1200" dirty="0" err="1"/>
              <a:t>Cloudinary</a:t>
            </a:r>
            <a:r>
              <a:rPr lang="uk-UA" sz="1200" dirty="0"/>
              <a:t>, SMTP </a:t>
            </a:r>
            <a:r>
              <a:rPr lang="uk-UA" sz="1200" dirty="0" err="1"/>
              <a:t>Gmail</a:t>
            </a:r>
            <a:r>
              <a:rPr lang="uk-UA" sz="1200" dirty="0"/>
              <a:t> та Render.com.</a:t>
            </a:r>
          </a:p>
          <a:p>
            <a:r>
              <a:rPr lang="uk-UA" sz="1200" dirty="0"/>
              <a:t>Сторінка реєстрації обслуговується </a:t>
            </a:r>
            <a:r>
              <a:rPr lang="uk-UA" sz="1200" dirty="0" err="1"/>
              <a:t>endpoint-ом</a:t>
            </a:r>
            <a:r>
              <a:rPr lang="uk-UA" sz="1200" dirty="0"/>
              <a:t> POST /</a:t>
            </a:r>
            <a:r>
              <a:rPr lang="uk-UA" sz="1200" dirty="0" err="1"/>
              <a:t>api</a:t>
            </a:r>
            <a:r>
              <a:rPr lang="uk-UA" sz="1200" dirty="0"/>
              <a:t>/</a:t>
            </a:r>
            <a:r>
              <a:rPr lang="uk-UA" sz="1200" dirty="0" err="1"/>
              <a:t>auth</a:t>
            </a:r>
            <a:r>
              <a:rPr lang="uk-UA" sz="1200" dirty="0"/>
              <a:t>/</a:t>
            </a:r>
            <a:r>
              <a:rPr lang="uk-UA" sz="1200" dirty="0" err="1"/>
              <a:t>register</a:t>
            </a:r>
            <a:r>
              <a:rPr lang="uk-UA" sz="1200" dirty="0"/>
              <a:t>, авторизація — POST /</a:t>
            </a:r>
            <a:r>
              <a:rPr lang="uk-UA" sz="1200" dirty="0" err="1"/>
              <a:t>api</a:t>
            </a:r>
            <a:r>
              <a:rPr lang="uk-UA" sz="1200" dirty="0"/>
              <a:t>/</a:t>
            </a:r>
            <a:r>
              <a:rPr lang="uk-UA" sz="1200" dirty="0" err="1"/>
              <a:t>auth</a:t>
            </a:r>
            <a:r>
              <a:rPr lang="uk-UA" sz="1200" dirty="0"/>
              <a:t>/</a:t>
            </a:r>
            <a:r>
              <a:rPr lang="uk-UA" sz="1200" dirty="0" err="1"/>
              <a:t>login</a:t>
            </a:r>
            <a:r>
              <a:rPr lang="uk-UA" sz="1200" dirty="0"/>
              <a:t>, а сторінка профілю завантажує дані через GET /</a:t>
            </a:r>
            <a:r>
              <a:rPr lang="uk-UA" sz="1200" dirty="0" err="1"/>
              <a:t>api</a:t>
            </a:r>
            <a:r>
              <a:rPr lang="uk-UA" sz="1200" dirty="0"/>
              <a:t>/</a:t>
            </a:r>
            <a:r>
              <a:rPr lang="uk-UA" sz="1200" dirty="0" err="1"/>
              <a:t>user</a:t>
            </a:r>
            <a:r>
              <a:rPr lang="uk-UA" sz="1200" dirty="0"/>
              <a:t>/{</a:t>
            </a:r>
            <a:r>
              <a:rPr lang="uk-UA" sz="1200" dirty="0" err="1"/>
              <a:t>userId</a:t>
            </a:r>
            <a:r>
              <a:rPr lang="uk-UA" sz="1200" dirty="0"/>
              <a:t>}.</a:t>
            </a:r>
          </a:p>
          <a:p>
            <a:pPr marL="114300" indent="0" algn="just">
              <a:buNone/>
            </a:pPr>
            <a:endParaRPr lang="uk-UA" sz="1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xmlns="" id="{63CF8273-8644-010C-82BE-6948F8D6C5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EBF7D3-EC7A-D782-3FD2-6FE6F5F10A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9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00BC7685-2156-E836-B18E-2C553F1CEC1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98435" y="581751"/>
            <a:ext cx="3294717" cy="169369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08FA198-5E8E-385B-8D49-0847C19A2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850" y="2453645"/>
            <a:ext cx="3401442" cy="177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425457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58781" y="142971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268925" y="891546"/>
            <a:ext cx="8649788" cy="188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Розглянемо реалізацію функції відновлення пароля через </a:t>
            </a:r>
            <a:r>
              <a:rPr lang="uk-UA" sz="1000" dirty="0" err="1">
                <a:highlight>
                  <a:srgbClr val="FFFFFF"/>
                </a:highlight>
              </a:rPr>
              <a:t>email</a:t>
            </a:r>
            <a:r>
              <a:rPr lang="uk-UA" sz="1000" dirty="0">
                <a:highlight>
                  <a:srgbClr val="FFFFFF"/>
                </a:highlight>
              </a:rPr>
              <a:t> у сервісі </a:t>
            </a:r>
            <a:r>
              <a:rPr lang="uk-UA" sz="1000" dirty="0" err="1">
                <a:highlight>
                  <a:srgbClr val="FFFFFF"/>
                </a:highlight>
              </a:rPr>
              <a:t>EmailService</a:t>
            </a:r>
            <a:r>
              <a:rPr lang="uk-UA" sz="1000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При виклику </a:t>
            </a:r>
            <a:r>
              <a:rPr lang="uk-UA" sz="1000" dirty="0" err="1">
                <a:highlight>
                  <a:srgbClr val="FFFFFF"/>
                </a:highlight>
              </a:rPr>
              <a:t>endpoint</a:t>
            </a:r>
            <a:r>
              <a:rPr lang="uk-UA" sz="1000" dirty="0">
                <a:highlight>
                  <a:srgbClr val="FFFFFF"/>
                </a:highlight>
              </a:rPr>
              <a:t>-у POST /</a:t>
            </a:r>
            <a:r>
              <a:rPr lang="uk-UA" sz="1000" dirty="0" err="1">
                <a:highlight>
                  <a:srgbClr val="FFFFFF"/>
                </a:highlight>
              </a:rPr>
              <a:t>api</a:t>
            </a:r>
            <a:r>
              <a:rPr lang="uk-UA" sz="1000" dirty="0">
                <a:highlight>
                  <a:srgbClr val="FFFFFF"/>
                </a:highlight>
              </a:rPr>
              <a:t>/</a:t>
            </a:r>
            <a:r>
              <a:rPr lang="uk-UA" sz="1000" dirty="0" err="1">
                <a:highlight>
                  <a:srgbClr val="FFFFFF"/>
                </a:highlight>
              </a:rPr>
              <a:t>auth</a:t>
            </a:r>
            <a:r>
              <a:rPr lang="uk-UA" sz="1000" dirty="0">
                <a:highlight>
                  <a:srgbClr val="FFFFFF"/>
                </a:highlight>
              </a:rPr>
              <a:t>/</a:t>
            </a:r>
            <a:r>
              <a:rPr lang="uk-UA" sz="1000" dirty="0" err="1">
                <a:highlight>
                  <a:srgbClr val="FFFFFF"/>
                </a:highlight>
              </a:rPr>
              <a:t>forgot-password</a:t>
            </a:r>
            <a:r>
              <a:rPr lang="uk-UA" sz="1000" dirty="0">
                <a:highlight>
                  <a:srgbClr val="FFFFFF"/>
                </a:highlight>
              </a:rPr>
              <a:t> сервер знаходить користувача за </a:t>
            </a:r>
            <a:r>
              <a:rPr lang="uk-UA" sz="1000" dirty="0" err="1">
                <a:highlight>
                  <a:srgbClr val="FFFFFF"/>
                </a:highlight>
              </a:rPr>
              <a:t>email</a:t>
            </a:r>
            <a:r>
              <a:rPr lang="uk-UA" sz="1000" dirty="0">
                <a:highlight>
                  <a:srgbClr val="FFFFFF"/>
                </a:highlight>
              </a:rPr>
              <a:t>, генерує випадковий тимчасовий пароль за допомогою методу </a:t>
            </a:r>
            <a:r>
              <a:rPr lang="uk-UA" sz="1000" dirty="0" err="1">
                <a:highlight>
                  <a:srgbClr val="FFFFFF"/>
                </a:highlight>
              </a:rPr>
              <a:t>GenerateRandomPassword</a:t>
            </a:r>
            <a:r>
              <a:rPr lang="uk-UA" sz="1000" dirty="0">
                <a:highlight>
                  <a:srgbClr val="FFFFFF"/>
                </a:highlight>
              </a:rPr>
              <a:t>, </a:t>
            </a:r>
            <a:r>
              <a:rPr lang="uk-UA" sz="1000" dirty="0" err="1">
                <a:highlight>
                  <a:srgbClr val="FFFFFF"/>
                </a:highlight>
              </a:rPr>
              <a:t>хешує</a:t>
            </a:r>
            <a:r>
              <a:rPr lang="uk-UA" sz="1000" dirty="0">
                <a:highlight>
                  <a:srgbClr val="FFFFFF"/>
                </a:highlight>
              </a:rPr>
              <a:t> його через </a:t>
            </a:r>
            <a:r>
              <a:rPr lang="uk-UA" sz="1000" dirty="0" err="1">
                <a:highlight>
                  <a:srgbClr val="FFFFFF"/>
                </a:highlight>
              </a:rPr>
              <a:t>BCrypt</a:t>
            </a:r>
            <a:r>
              <a:rPr lang="uk-UA" sz="1000" dirty="0">
                <a:highlight>
                  <a:srgbClr val="FFFFFF"/>
                </a:highlight>
              </a:rPr>
              <a:t> та зберігає у таблиці </a:t>
            </a:r>
            <a:r>
              <a:rPr lang="uk-UA" sz="1000" dirty="0" err="1">
                <a:highlight>
                  <a:srgbClr val="FFFFFF"/>
                </a:highlight>
              </a:rPr>
              <a:t>users</a:t>
            </a:r>
            <a:r>
              <a:rPr lang="uk-UA" sz="1000" dirty="0">
                <a:highlight>
                  <a:srgbClr val="FFFFFF"/>
                </a:highlight>
              </a:rPr>
              <a:t>. Після цього </a:t>
            </a:r>
            <a:r>
              <a:rPr lang="uk-UA" sz="1000" dirty="0" err="1">
                <a:highlight>
                  <a:srgbClr val="FFFFFF"/>
                </a:highlight>
              </a:rPr>
              <a:t>EmailService</a:t>
            </a:r>
            <a:r>
              <a:rPr lang="uk-UA" sz="1000" dirty="0">
                <a:highlight>
                  <a:srgbClr val="FFFFFF"/>
                </a:highlight>
              </a:rPr>
              <a:t> формує текст листа і надсилає його через SMTP </a:t>
            </a:r>
            <a:r>
              <a:rPr lang="uk-UA" sz="1000" dirty="0" err="1">
                <a:highlight>
                  <a:srgbClr val="FFFFFF"/>
                </a:highlight>
              </a:rPr>
              <a:t>Gmail</a:t>
            </a:r>
            <a:r>
              <a:rPr lang="uk-UA" sz="1000" dirty="0">
                <a:highlight>
                  <a:srgbClr val="FFFFFF"/>
                </a:highlight>
              </a:rPr>
              <a:t> на порту 587.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На правій частині слайду видно реальний результат — лист приходить до поштової скриньки з темою </a:t>
            </a:r>
            <a:r>
              <a:rPr lang="uk-UA" sz="1000" dirty="0" err="1">
                <a:highlight>
                  <a:srgbClr val="FFFFFF"/>
                </a:highlight>
              </a:rPr>
              <a:t>Password</a:t>
            </a:r>
            <a:r>
              <a:rPr lang="uk-UA" sz="1000" dirty="0">
                <a:highlight>
                  <a:srgbClr val="FFFFFF"/>
                </a:highlight>
              </a:rPr>
              <a:t> </a:t>
            </a:r>
            <a:r>
              <a:rPr lang="uk-UA" sz="1000" dirty="0" err="1">
                <a:highlight>
                  <a:srgbClr val="FFFFFF"/>
                </a:highlight>
              </a:rPr>
              <a:t>Reset</a:t>
            </a:r>
            <a:r>
              <a:rPr lang="uk-UA" sz="1000" dirty="0">
                <a:highlight>
                  <a:srgbClr val="FFFFFF"/>
                </a:highlight>
              </a:rPr>
              <a:t> і текстом де вказано ім'я користувача та тимчасовий пароль. Після входу з цим паролем користувач може змінити його у налаштуваннях профілю.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Уся логіка завантаження та збереження файлів </a:t>
            </a:r>
            <a:r>
              <a:rPr lang="uk-UA" sz="1000" dirty="0" err="1">
                <a:highlight>
                  <a:srgbClr val="FFFFFF"/>
                </a:highlight>
              </a:rPr>
              <a:t>інкапсульована</a:t>
            </a:r>
            <a:r>
              <a:rPr lang="uk-UA" sz="1000" dirty="0">
                <a:highlight>
                  <a:srgbClr val="FFFFFF"/>
                </a:highlight>
              </a:rPr>
              <a:t> в окремих сервісах, що дозволяє централізовано керувати операціями та спрощує тестування.</a:t>
            </a:r>
          </a:p>
          <a:p>
            <a:pPr marL="114300" indent="0" algn="just">
              <a:buNone/>
            </a:pPr>
            <a:endParaRPr lang="uk-UA" sz="1000" dirty="0">
              <a:highlight>
                <a:srgbClr val="FFFFFF"/>
              </a:highlight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10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2AC1EE12-EAEC-C494-793D-6210598C4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711" y="2841991"/>
            <a:ext cx="3532726" cy="17643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915064F-4A9E-799E-EFEF-B70285684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966" y="2905857"/>
            <a:ext cx="3727126" cy="11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39135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12A3DDDA-DD86-E3B2-AACC-89378E2B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xmlns="" id="{A47E844D-43AF-3998-A821-3AED0531F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142971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xmlns="" id="{38D6A462-9816-CAC7-EBE1-3ECBDA62E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9266" y="864652"/>
            <a:ext cx="8649788" cy="1428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Розглянемо реалізацію JWT-автентифікації та її відображення у </a:t>
            </a:r>
            <a:r>
              <a:rPr lang="uk-UA" sz="1000" dirty="0" err="1">
                <a:highlight>
                  <a:srgbClr val="FFFFFF"/>
                </a:highlight>
              </a:rPr>
              <a:t>Swagger</a:t>
            </a:r>
            <a:r>
              <a:rPr lang="uk-UA" sz="1000" dirty="0">
                <a:highlight>
                  <a:srgbClr val="FFFFFF"/>
                </a:highlight>
              </a:rPr>
              <a:t> UI.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Після успішного входу сервер формує токен через </a:t>
            </a:r>
            <a:r>
              <a:rPr lang="uk-UA" sz="1000" dirty="0" err="1">
                <a:highlight>
                  <a:srgbClr val="FFFFFF"/>
                </a:highlight>
              </a:rPr>
              <a:t>SecurityTokenDescriptor</a:t>
            </a:r>
            <a:r>
              <a:rPr lang="uk-UA" sz="1000" dirty="0">
                <a:highlight>
                  <a:srgbClr val="FFFFFF"/>
                </a:highlight>
              </a:rPr>
              <a:t>. Токен містить п'ять </a:t>
            </a:r>
            <a:r>
              <a:rPr lang="uk-UA" sz="1000" dirty="0" err="1">
                <a:highlight>
                  <a:srgbClr val="FFFFFF"/>
                </a:highlight>
              </a:rPr>
              <a:t>claim</a:t>
            </a:r>
            <a:r>
              <a:rPr lang="uk-UA" sz="1000" dirty="0">
                <a:highlight>
                  <a:srgbClr val="FFFFFF"/>
                </a:highlight>
              </a:rPr>
              <a:t>-полів: </a:t>
            </a:r>
            <a:r>
              <a:rPr lang="uk-UA" sz="1000" dirty="0" err="1">
                <a:highlight>
                  <a:srgbClr val="FFFFFF"/>
                </a:highlight>
              </a:rPr>
              <a:t>NameIdentifier</a:t>
            </a:r>
            <a:r>
              <a:rPr lang="uk-UA" sz="1000" dirty="0">
                <a:highlight>
                  <a:srgbClr val="FFFFFF"/>
                </a:highlight>
              </a:rPr>
              <a:t> з </a:t>
            </a:r>
            <a:r>
              <a:rPr lang="uk-UA" sz="1000" dirty="0" err="1">
                <a:highlight>
                  <a:srgbClr val="FFFFFF"/>
                </a:highlight>
              </a:rPr>
              <a:t>userId</a:t>
            </a:r>
            <a:r>
              <a:rPr lang="uk-UA" sz="1000" dirty="0">
                <a:highlight>
                  <a:srgbClr val="FFFFFF"/>
                </a:highlight>
              </a:rPr>
              <a:t>, </a:t>
            </a:r>
            <a:r>
              <a:rPr lang="uk-UA" sz="1000" dirty="0" err="1">
                <a:highlight>
                  <a:srgbClr val="FFFFFF"/>
                </a:highlight>
              </a:rPr>
              <a:t>Email</a:t>
            </a:r>
            <a:r>
              <a:rPr lang="uk-UA" sz="1000" dirty="0">
                <a:highlight>
                  <a:srgbClr val="FFFFFF"/>
                </a:highlight>
              </a:rPr>
              <a:t>, </a:t>
            </a:r>
            <a:r>
              <a:rPr lang="uk-UA" sz="1000" dirty="0" err="1">
                <a:highlight>
                  <a:srgbClr val="FFFFFF"/>
                </a:highlight>
              </a:rPr>
              <a:t>Role</a:t>
            </a:r>
            <a:r>
              <a:rPr lang="uk-UA" sz="1000" dirty="0">
                <a:highlight>
                  <a:srgbClr val="FFFFFF"/>
                </a:highlight>
              </a:rPr>
              <a:t> зі значенням Admin або </a:t>
            </a:r>
            <a:r>
              <a:rPr lang="uk-UA" sz="1000" dirty="0" err="1">
                <a:highlight>
                  <a:srgbClr val="FFFFFF"/>
                </a:highlight>
              </a:rPr>
              <a:t>User</a:t>
            </a:r>
            <a:r>
              <a:rPr lang="uk-UA" sz="1000" dirty="0">
                <a:highlight>
                  <a:srgbClr val="FFFFFF"/>
                </a:highlight>
              </a:rPr>
              <a:t>, а також власне поле </a:t>
            </a:r>
            <a:r>
              <a:rPr lang="uk-UA" sz="1000" dirty="0" err="1">
                <a:highlight>
                  <a:srgbClr val="FFFFFF"/>
                </a:highlight>
              </a:rPr>
              <a:t>isPremium</a:t>
            </a:r>
            <a:r>
              <a:rPr lang="uk-UA" sz="1000" dirty="0">
                <a:highlight>
                  <a:srgbClr val="FFFFFF"/>
                </a:highlight>
              </a:rPr>
              <a:t>. Термін дії токена — сім днів. Підписування виконується алгоритмом HmacSha256, ключ зберігається у конфігурації.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На правій частині слайду показано вікно </a:t>
            </a:r>
            <a:r>
              <a:rPr lang="uk-UA" sz="1000" dirty="0" err="1">
                <a:highlight>
                  <a:srgbClr val="FFFFFF"/>
                </a:highlight>
              </a:rPr>
              <a:t>Available</a:t>
            </a:r>
            <a:r>
              <a:rPr lang="uk-UA" sz="1000" dirty="0">
                <a:highlight>
                  <a:srgbClr val="FFFFFF"/>
                </a:highlight>
              </a:rPr>
              <a:t> </a:t>
            </a:r>
            <a:r>
              <a:rPr lang="uk-UA" sz="1000" dirty="0" err="1">
                <a:highlight>
                  <a:srgbClr val="FFFFFF"/>
                </a:highlight>
              </a:rPr>
              <a:t>authorizations</a:t>
            </a:r>
            <a:r>
              <a:rPr lang="uk-UA" sz="1000" dirty="0">
                <a:highlight>
                  <a:srgbClr val="FFFFFF"/>
                </a:highlight>
              </a:rPr>
              <a:t> у </a:t>
            </a:r>
            <a:r>
              <a:rPr lang="uk-UA" sz="1000" dirty="0" err="1">
                <a:highlight>
                  <a:srgbClr val="FFFFFF"/>
                </a:highlight>
              </a:rPr>
              <a:t>Swagger</a:t>
            </a:r>
            <a:r>
              <a:rPr lang="uk-UA" sz="1000" dirty="0">
                <a:highlight>
                  <a:srgbClr val="FFFFFF"/>
                </a:highlight>
              </a:rPr>
              <a:t> UI. Розробник вставляє отриманий токен у поле </a:t>
            </a:r>
            <a:r>
              <a:rPr lang="uk-UA" sz="1000" dirty="0" err="1">
                <a:highlight>
                  <a:srgbClr val="FFFFFF"/>
                </a:highlight>
              </a:rPr>
              <a:t>Bearer</a:t>
            </a:r>
            <a:r>
              <a:rPr lang="uk-UA" sz="1000" dirty="0">
                <a:highlight>
                  <a:srgbClr val="FFFFFF"/>
                </a:highlight>
              </a:rPr>
              <a:t>, після чого всі захищені </a:t>
            </a:r>
            <a:r>
              <a:rPr lang="uk-UA" sz="1000" dirty="0" err="1">
                <a:highlight>
                  <a:srgbClr val="FFFFFF"/>
                </a:highlight>
              </a:rPr>
              <a:t>endpoint</a:t>
            </a:r>
            <a:r>
              <a:rPr lang="uk-UA" sz="1000" dirty="0">
                <a:highlight>
                  <a:srgbClr val="FFFFFF"/>
                </a:highlight>
              </a:rPr>
              <a:t>-и стають доступними. </a:t>
            </a:r>
            <a:r>
              <a:rPr lang="uk-UA" sz="1000" dirty="0" err="1">
                <a:highlight>
                  <a:srgbClr val="FFFFFF"/>
                </a:highlight>
              </a:rPr>
              <a:t>Endpoint-и</a:t>
            </a:r>
            <a:r>
              <a:rPr lang="uk-UA" sz="1000" dirty="0">
                <a:highlight>
                  <a:srgbClr val="FFFFFF"/>
                </a:highlight>
              </a:rPr>
              <a:t> без токена повертають 401 </a:t>
            </a:r>
            <a:r>
              <a:rPr lang="uk-UA" sz="1000" dirty="0" err="1">
                <a:highlight>
                  <a:srgbClr val="FFFFFF"/>
                </a:highlight>
              </a:rPr>
              <a:t>Unauthorized</a:t>
            </a:r>
            <a:r>
              <a:rPr lang="uk-UA" sz="1000" dirty="0">
                <a:highlight>
                  <a:srgbClr val="FFFFFF"/>
                </a:highlight>
              </a:rPr>
              <a:t> ще до звернення до контролера — JWT </a:t>
            </a:r>
            <a:r>
              <a:rPr lang="uk-UA" sz="1000" dirty="0" err="1">
                <a:highlight>
                  <a:srgbClr val="FFFFFF"/>
                </a:highlight>
              </a:rPr>
              <a:t>Middleware</a:t>
            </a:r>
            <a:r>
              <a:rPr lang="uk-UA" sz="1000" dirty="0">
                <a:highlight>
                  <a:srgbClr val="FFFFFF"/>
                </a:highlight>
              </a:rPr>
              <a:t> перехоплює запит на рівні конвеєра</a:t>
            </a:r>
            <a:r>
              <a:rPr lang="uk-UA" sz="1000" dirty="0" smtClean="0">
                <a:highlight>
                  <a:srgbClr val="FFFFFF"/>
                </a:highlight>
              </a:rPr>
              <a:t>.</a:t>
            </a:r>
            <a:endParaRPr lang="uk-UA" sz="1000" dirty="0">
              <a:highlight>
                <a:srgbClr val="FFFFFF"/>
              </a:highlight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xmlns="" id="{BB4CBE70-A223-BEAB-34E6-9AFFC6ADFE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3212316-32F3-FDC3-A296-C49EAFA7AC4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11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D9CDE18-530E-F3B1-87DE-AD67DB348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391" y="2316347"/>
            <a:ext cx="3053502" cy="244389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37EFCB-5A50-376F-7721-CD6DA1180F7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41522" y="2357373"/>
            <a:ext cx="2808216" cy="240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964468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0E03AA5B-1D27-A7B8-57AB-8A8BDACB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xmlns="" id="{27494742-1493-6C48-0377-C5835FF2F0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-135325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xmlns="" id="{DD50C414-D36F-EE09-EEFA-422C60B42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5" y="844166"/>
            <a:ext cx="4216937" cy="3455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1400" b="1" dirty="0" err="1" smtClean="0"/>
              <a:t>SignalR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ChatHub</a:t>
            </a:r>
            <a:r>
              <a:rPr lang="en-US" sz="1400" dirty="0" smtClean="0"/>
              <a:t> — </a:t>
            </a:r>
            <a:r>
              <a:rPr lang="ru-RU" sz="1400" dirty="0" err="1" smtClean="0"/>
              <a:t>ключовий</a:t>
            </a:r>
            <a:r>
              <a:rPr lang="ru-RU" sz="1400" dirty="0" smtClean="0"/>
              <a:t> компонент </a:t>
            </a:r>
            <a:r>
              <a:rPr lang="en-US" sz="1400" dirty="0" smtClean="0"/>
              <a:t>real-time </a:t>
            </a:r>
            <a:r>
              <a:rPr lang="ru-RU" sz="1400" dirty="0" err="1" smtClean="0"/>
              <a:t>комунікацій</a:t>
            </a:r>
            <a:r>
              <a:rPr lang="ru-RU" sz="1400" dirty="0" smtClean="0"/>
              <a:t>. </a:t>
            </a:r>
            <a:r>
              <a:rPr lang="ru-RU" sz="1400" dirty="0" err="1" smtClean="0"/>
              <a:t>Підключення</a:t>
            </a:r>
            <a:r>
              <a:rPr lang="ru-RU" sz="1400" dirty="0" smtClean="0"/>
              <a:t> </a:t>
            </a:r>
            <a:r>
              <a:rPr lang="ru-RU" sz="1400" dirty="0" err="1" smtClean="0"/>
              <a:t>відстежуються</a:t>
            </a:r>
            <a:r>
              <a:rPr lang="ru-RU" sz="1400" dirty="0" smtClean="0"/>
              <a:t> через </a:t>
            </a:r>
            <a:r>
              <a:rPr lang="en-US" sz="1400" dirty="0" err="1" smtClean="0"/>
              <a:t>ConcurrentDictionary</a:t>
            </a:r>
            <a:r>
              <a:rPr lang="en-US" sz="1400" dirty="0" smtClean="0"/>
              <a:t>&lt;</a:t>
            </a:r>
            <a:r>
              <a:rPr lang="en-US" sz="1400" dirty="0" err="1" smtClean="0"/>
              <a:t>userId</a:t>
            </a:r>
            <a:r>
              <a:rPr lang="en-US" sz="1400" dirty="0" smtClean="0"/>
              <a:t>, </a:t>
            </a:r>
            <a:r>
              <a:rPr lang="en-US" sz="1400" dirty="0" err="1" smtClean="0"/>
              <a:t>HashSet</a:t>
            </a:r>
            <a:r>
              <a:rPr lang="en-US" sz="1400" dirty="0" smtClean="0"/>
              <a:t>&lt;</a:t>
            </a:r>
            <a:r>
              <a:rPr lang="en-US" sz="1400" dirty="0" err="1" smtClean="0"/>
              <a:t>ConnectionId</a:t>
            </a:r>
            <a:r>
              <a:rPr lang="en-US" sz="1400" dirty="0" smtClean="0"/>
              <a:t>&gt;&gt;, </a:t>
            </a:r>
            <a:r>
              <a:rPr lang="ru-RU" sz="1400" dirty="0" err="1" smtClean="0"/>
              <a:t>що</a:t>
            </a:r>
            <a:r>
              <a:rPr lang="ru-RU" sz="1400" dirty="0" smtClean="0"/>
              <a:t> </a:t>
            </a:r>
            <a:r>
              <a:rPr lang="ru-RU" sz="1400" dirty="0" err="1" smtClean="0"/>
              <a:t>дозволяє</a:t>
            </a:r>
            <a:r>
              <a:rPr lang="ru-RU" sz="1400" dirty="0" smtClean="0"/>
              <a:t> одному </a:t>
            </a:r>
            <a:r>
              <a:rPr lang="ru-RU" sz="1400" dirty="0" err="1" smtClean="0"/>
              <a:t>користувачу</a:t>
            </a:r>
            <a:r>
              <a:rPr lang="ru-RU" sz="1400" dirty="0" smtClean="0"/>
              <a:t> </a:t>
            </a:r>
            <a:r>
              <a:rPr lang="ru-RU" sz="1400" dirty="0" err="1" smtClean="0"/>
              <a:t>мати</a:t>
            </a:r>
            <a:r>
              <a:rPr lang="ru-RU" sz="1400" dirty="0" smtClean="0"/>
              <a:t> </a:t>
            </a:r>
            <a:r>
              <a:rPr lang="ru-RU" sz="1400" dirty="0" err="1" smtClean="0"/>
              <a:t>кілька</a:t>
            </a:r>
            <a:r>
              <a:rPr lang="ru-RU" sz="1400" dirty="0" smtClean="0"/>
              <a:t> </a:t>
            </a:r>
            <a:r>
              <a:rPr lang="ru-RU" sz="1400" dirty="0" err="1" smtClean="0"/>
              <a:t>активних</a:t>
            </a:r>
            <a:r>
              <a:rPr lang="ru-RU" sz="1400" dirty="0" smtClean="0"/>
              <a:t> вкладок. </a:t>
            </a:r>
            <a:r>
              <a:rPr lang="en-US" sz="1400" dirty="0" err="1" smtClean="0"/>
              <a:t>OnConnectedAsync</a:t>
            </a:r>
            <a:r>
              <a:rPr lang="en-US" sz="1400" dirty="0" smtClean="0"/>
              <a:t> </a:t>
            </a:r>
            <a:r>
              <a:rPr lang="ru-RU" sz="1400" dirty="0" err="1" smtClean="0"/>
              <a:t>додає</a:t>
            </a:r>
            <a:r>
              <a:rPr lang="ru-RU" sz="1400" dirty="0" smtClean="0"/>
              <a:t> </a:t>
            </a:r>
            <a:r>
              <a:rPr lang="en-US" sz="1400" dirty="0" err="1" smtClean="0"/>
              <a:t>ConnectionId</a:t>
            </a:r>
            <a:r>
              <a:rPr lang="en-US" sz="1400" dirty="0" smtClean="0"/>
              <a:t> </a:t>
            </a:r>
            <a:r>
              <a:rPr lang="ru-RU" sz="1400" dirty="0" smtClean="0"/>
              <a:t>та </a:t>
            </a:r>
            <a:r>
              <a:rPr lang="ru-RU" sz="1400" dirty="0" err="1" smtClean="0"/>
              <a:t>сповіщає</a:t>
            </a:r>
            <a:r>
              <a:rPr lang="ru-RU" sz="1400" dirty="0" smtClean="0"/>
              <a:t> </a:t>
            </a:r>
            <a:r>
              <a:rPr lang="ru-RU" sz="1400" dirty="0" err="1" smtClean="0"/>
              <a:t>контакти</a:t>
            </a:r>
            <a:r>
              <a:rPr lang="ru-RU" sz="1400" dirty="0" smtClean="0"/>
              <a:t> про </a:t>
            </a:r>
            <a:r>
              <a:rPr lang="ru-RU" sz="1400" dirty="0" err="1" smtClean="0"/>
              <a:t>онлайн</a:t>
            </a:r>
            <a:r>
              <a:rPr lang="ru-RU" sz="1400" dirty="0" smtClean="0"/>
              <a:t>, </a:t>
            </a:r>
            <a:r>
              <a:rPr lang="en-US" sz="1400" dirty="0" err="1" smtClean="0"/>
              <a:t>OnDisconnectedAsync</a:t>
            </a:r>
            <a:r>
              <a:rPr lang="en-US" sz="1400" dirty="0" smtClean="0"/>
              <a:t> — </a:t>
            </a:r>
            <a:r>
              <a:rPr lang="ru-RU" sz="1400" dirty="0" err="1" smtClean="0"/>
              <a:t>видаляє</a:t>
            </a:r>
            <a:r>
              <a:rPr lang="ru-RU" sz="1400" dirty="0" smtClean="0"/>
              <a:t> </a:t>
            </a:r>
            <a:r>
              <a:rPr lang="ru-RU" sz="1400" dirty="0" err="1" smtClean="0"/>
              <a:t>його</a:t>
            </a:r>
            <a:r>
              <a:rPr lang="ru-RU" sz="1400" dirty="0" smtClean="0"/>
              <a:t> </a:t>
            </a:r>
            <a:r>
              <a:rPr lang="ru-RU" sz="1400" dirty="0" err="1" smtClean="0"/>
              <a:t>і</a:t>
            </a:r>
            <a:r>
              <a:rPr lang="ru-RU" sz="1400" dirty="0" smtClean="0"/>
              <a:t> </a:t>
            </a:r>
            <a:r>
              <a:rPr lang="ru-RU" sz="1400" dirty="0" err="1" smtClean="0"/>
              <a:t>надсилає</a:t>
            </a:r>
            <a:r>
              <a:rPr lang="ru-RU" sz="1400" dirty="0" smtClean="0"/>
              <a:t> </a:t>
            </a:r>
            <a:r>
              <a:rPr lang="ru-RU" sz="1400" dirty="0" err="1" smtClean="0"/>
              <a:t>офлайн-статус</a:t>
            </a:r>
            <a:r>
              <a:rPr lang="ru-RU" sz="1400" dirty="0" smtClean="0"/>
              <a:t> </a:t>
            </a:r>
            <a:r>
              <a:rPr lang="ru-RU" sz="1400" dirty="0" err="1" smtClean="0"/>
              <a:t>лише</a:t>
            </a:r>
            <a:r>
              <a:rPr lang="ru-RU" sz="1400" dirty="0" smtClean="0"/>
              <a:t> коли </a:t>
            </a:r>
            <a:r>
              <a:rPr lang="ru-RU" sz="1400" dirty="0" err="1" smtClean="0"/>
              <a:t>всі</a:t>
            </a:r>
            <a:r>
              <a:rPr lang="ru-RU" sz="1400" dirty="0" smtClean="0"/>
              <a:t> вкладки </a:t>
            </a:r>
            <a:r>
              <a:rPr lang="ru-RU" sz="1400" dirty="0" err="1" smtClean="0"/>
              <a:t>закриті</a:t>
            </a:r>
            <a:r>
              <a:rPr lang="ru-RU" sz="1400" dirty="0" smtClean="0"/>
              <a:t>. </a:t>
            </a:r>
            <a:r>
              <a:rPr lang="en-US" sz="1400" dirty="0" err="1" smtClean="0"/>
              <a:t>SendTyping</a:t>
            </a:r>
            <a:r>
              <a:rPr lang="en-US" sz="1400" dirty="0" smtClean="0"/>
              <a:t> </a:t>
            </a:r>
            <a:r>
              <a:rPr lang="ru-RU" sz="1400" dirty="0" err="1" smtClean="0"/>
              <a:t>транслює</a:t>
            </a:r>
            <a:r>
              <a:rPr lang="ru-RU" sz="1400" dirty="0" smtClean="0"/>
              <a:t> </a:t>
            </a:r>
            <a:r>
              <a:rPr lang="ru-RU" sz="1400" dirty="0" err="1" smtClean="0"/>
              <a:t>індикатор</a:t>
            </a:r>
            <a:r>
              <a:rPr lang="ru-RU" sz="1400" dirty="0" smtClean="0"/>
              <a:t> набору тексту </a:t>
            </a:r>
            <a:r>
              <a:rPr lang="ru-RU" sz="1400" dirty="0" err="1" smtClean="0"/>
              <a:t>всім</a:t>
            </a:r>
            <a:r>
              <a:rPr lang="ru-RU" sz="1400" dirty="0" smtClean="0"/>
              <a:t> </a:t>
            </a:r>
            <a:r>
              <a:rPr lang="ru-RU" sz="1400" dirty="0" err="1" smtClean="0"/>
              <a:t>учасникам</a:t>
            </a:r>
            <a:r>
              <a:rPr lang="ru-RU" sz="1400" dirty="0" smtClean="0"/>
              <a:t> чату, </a:t>
            </a:r>
            <a:r>
              <a:rPr lang="ru-RU" sz="1400" dirty="0" err="1" smtClean="0"/>
              <a:t>крім</a:t>
            </a:r>
            <a:r>
              <a:rPr lang="ru-RU" sz="1400" dirty="0" smtClean="0"/>
              <a:t> </a:t>
            </a:r>
            <a:r>
              <a:rPr lang="ru-RU" sz="1400" dirty="0" err="1" smtClean="0"/>
              <a:t>відправника</a:t>
            </a:r>
            <a:r>
              <a:rPr lang="ru-RU" sz="1400" dirty="0" smtClean="0"/>
              <a:t>.</a:t>
            </a:r>
            <a:endParaRPr lang="uk-UA" sz="1400" dirty="0">
              <a:highlight>
                <a:srgbClr val="FFFFFF"/>
              </a:highlight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xmlns="" id="{8A8C8D79-BB41-1E07-D0B2-26667CF89D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009E189-4EDC-0789-E394-74BCAF866D1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12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ADCD02A-1193-1F31-E34C-4B8B41C9C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313" y="1043348"/>
            <a:ext cx="3492481" cy="193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998644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1460CA27-24F2-4218-6EAB-1B0C6191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xmlns="" id="{435B7211-A9E6-4406-3408-031525352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-108820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xmlns="" id="{C6C01682-5AE8-CB1A-664D-1F06C2321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679312"/>
            <a:ext cx="4450976" cy="3327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1" indent="0">
              <a:buNone/>
            </a:pPr>
            <a:r>
              <a:rPr lang="ru-RU" dirty="0" smtClean="0"/>
              <a:t>Метод </a:t>
            </a:r>
            <a:r>
              <a:rPr lang="en-US" dirty="0" err="1" smtClean="0"/>
              <a:t>GetRecommendations</a:t>
            </a:r>
            <a:r>
              <a:rPr lang="en-US" dirty="0" smtClean="0"/>
              <a:t> </a:t>
            </a:r>
            <a:r>
              <a:rPr lang="ru-RU" dirty="0" err="1" smtClean="0"/>
              <a:t>обчислює</a:t>
            </a:r>
            <a:r>
              <a:rPr lang="ru-RU" dirty="0" smtClean="0"/>
              <a:t> </a:t>
            </a:r>
            <a:r>
              <a:rPr lang="en-US" dirty="0" smtClean="0"/>
              <a:t>score </a:t>
            </a:r>
            <a:r>
              <a:rPr lang="ru-RU" dirty="0" smtClean="0"/>
              <a:t>для </a:t>
            </a:r>
            <a:r>
              <a:rPr lang="ru-RU" dirty="0" err="1" smtClean="0"/>
              <a:t>кожної</a:t>
            </a:r>
            <a:r>
              <a:rPr lang="ru-RU" dirty="0" smtClean="0"/>
              <a:t> </a:t>
            </a:r>
            <a:r>
              <a:rPr lang="ru-RU" dirty="0" err="1" smtClean="0"/>
              <a:t>групи</a:t>
            </a:r>
            <a:r>
              <a:rPr lang="ru-RU" dirty="0" smtClean="0"/>
              <a:t>, до </a:t>
            </a:r>
            <a:r>
              <a:rPr lang="ru-RU" dirty="0" err="1" smtClean="0"/>
              <a:t>якої</a:t>
            </a:r>
            <a:r>
              <a:rPr lang="ru-RU" dirty="0" smtClean="0"/>
              <a:t> </a:t>
            </a:r>
            <a:r>
              <a:rPr lang="ru-RU" dirty="0" err="1" smtClean="0"/>
              <a:t>користувач</a:t>
            </a:r>
            <a:r>
              <a:rPr lang="ru-RU" dirty="0" smtClean="0"/>
              <a:t> </a:t>
            </a:r>
            <a:r>
              <a:rPr lang="ru-RU" dirty="0" err="1" smtClean="0"/>
              <a:t>ще</a:t>
            </a:r>
            <a:r>
              <a:rPr lang="ru-RU" dirty="0" smtClean="0"/>
              <a:t> не </a:t>
            </a:r>
            <a:r>
              <a:rPr lang="ru-RU" dirty="0" err="1" smtClean="0"/>
              <a:t>належить</a:t>
            </a:r>
            <a:r>
              <a:rPr lang="ru-RU" dirty="0" smtClean="0"/>
              <a:t>, за </a:t>
            </a:r>
            <a:r>
              <a:rPr lang="ru-RU" dirty="0" err="1" smtClean="0"/>
              <a:t>чотирма</a:t>
            </a:r>
            <a:r>
              <a:rPr lang="ru-RU" dirty="0" smtClean="0"/>
              <a:t> </a:t>
            </a:r>
            <a:r>
              <a:rPr lang="ru-RU" dirty="0" err="1" smtClean="0"/>
              <a:t>критеріями</a:t>
            </a:r>
            <a:r>
              <a:rPr lang="ru-RU" dirty="0" smtClean="0"/>
              <a:t>: </a:t>
            </a:r>
            <a:r>
              <a:rPr lang="ru-RU" dirty="0" err="1" smtClean="0"/>
              <a:t>збіг</a:t>
            </a:r>
            <a:r>
              <a:rPr lang="ru-RU" dirty="0" smtClean="0"/>
              <a:t> </a:t>
            </a:r>
            <a:r>
              <a:rPr lang="ru-RU" dirty="0" err="1" smtClean="0"/>
              <a:t>міста</a:t>
            </a:r>
            <a:r>
              <a:rPr lang="ru-RU" dirty="0" smtClean="0"/>
              <a:t> (0.3), </a:t>
            </a:r>
            <a:r>
              <a:rPr lang="ru-RU" dirty="0" err="1" smtClean="0"/>
              <a:t>частка</a:t>
            </a:r>
            <a:r>
              <a:rPr lang="ru-RU" dirty="0" smtClean="0"/>
              <a:t> </a:t>
            </a:r>
            <a:r>
              <a:rPr lang="ru-RU" dirty="0" err="1" smtClean="0"/>
              <a:t>спільних</a:t>
            </a:r>
            <a:r>
              <a:rPr lang="ru-RU" dirty="0" smtClean="0"/>
              <a:t> </a:t>
            </a:r>
            <a:r>
              <a:rPr lang="ru-RU" dirty="0" err="1" smtClean="0"/>
              <a:t>інтересів</a:t>
            </a:r>
            <a:r>
              <a:rPr lang="ru-RU" dirty="0" smtClean="0"/>
              <a:t> (0.4), </a:t>
            </a:r>
            <a:r>
              <a:rPr lang="ru-RU" dirty="0" err="1" smtClean="0"/>
              <a:t>свіжість</a:t>
            </a:r>
            <a:r>
              <a:rPr lang="ru-RU" dirty="0" smtClean="0"/>
              <a:t> </a:t>
            </a:r>
            <a:r>
              <a:rPr lang="ru-RU" dirty="0" err="1" smtClean="0"/>
              <a:t>групи</a:t>
            </a:r>
            <a:r>
              <a:rPr lang="ru-RU" dirty="0" smtClean="0"/>
              <a:t> (0.2) та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 err="1" smtClean="0"/>
              <a:t>учасників</a:t>
            </a:r>
            <a:r>
              <a:rPr lang="ru-RU" dirty="0" smtClean="0"/>
              <a:t> (0.1). </a:t>
            </a:r>
            <a:r>
              <a:rPr lang="ru-RU" dirty="0" err="1" smtClean="0"/>
              <a:t>Замість</a:t>
            </a:r>
            <a:r>
              <a:rPr lang="ru-RU" dirty="0" smtClean="0"/>
              <a:t> простого топ-3 система </a:t>
            </a:r>
            <a:r>
              <a:rPr lang="ru-RU" dirty="0" err="1" smtClean="0"/>
              <a:t>застосовує</a:t>
            </a:r>
            <a:r>
              <a:rPr lang="ru-RU" dirty="0" smtClean="0"/>
              <a:t> </a:t>
            </a:r>
            <a:r>
              <a:rPr lang="ru-RU" dirty="0" err="1" smtClean="0"/>
              <a:t>зважений</a:t>
            </a:r>
            <a:r>
              <a:rPr lang="ru-RU" dirty="0" smtClean="0"/>
              <a:t> </a:t>
            </a:r>
            <a:r>
              <a:rPr lang="ru-RU" dirty="0" err="1" smtClean="0"/>
              <a:t>випадковий</a:t>
            </a:r>
            <a:r>
              <a:rPr lang="ru-RU" dirty="0" smtClean="0"/>
              <a:t> </a:t>
            </a:r>
            <a:r>
              <a:rPr lang="ru-RU" dirty="0" err="1" smtClean="0"/>
              <a:t>відбір</a:t>
            </a:r>
            <a:r>
              <a:rPr lang="ru-RU" dirty="0" smtClean="0"/>
              <a:t> — </a:t>
            </a:r>
            <a:r>
              <a:rPr lang="ru-RU" dirty="0" err="1" smtClean="0"/>
              <a:t>імовірність</a:t>
            </a:r>
            <a:r>
              <a:rPr lang="ru-RU" dirty="0" smtClean="0"/>
              <a:t> </a:t>
            </a:r>
            <a:r>
              <a:rPr lang="ru-RU" dirty="0" err="1" smtClean="0"/>
              <a:t>потрапити</a:t>
            </a:r>
            <a:r>
              <a:rPr lang="ru-RU" dirty="0" smtClean="0"/>
              <a:t> в </a:t>
            </a:r>
            <a:r>
              <a:rPr lang="ru-RU" dirty="0" err="1" smtClean="0"/>
              <a:t>результати</a:t>
            </a:r>
            <a:r>
              <a:rPr lang="ru-RU" dirty="0" smtClean="0"/>
              <a:t> </a:t>
            </a:r>
            <a:r>
              <a:rPr lang="ru-RU" dirty="0" err="1" smtClean="0"/>
              <a:t>пропорційна</a:t>
            </a:r>
            <a:r>
              <a:rPr lang="ru-RU" dirty="0" smtClean="0"/>
              <a:t> балу,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забезпечує</a:t>
            </a:r>
            <a:r>
              <a:rPr lang="ru-RU" dirty="0" smtClean="0"/>
              <a:t> </a:t>
            </a:r>
            <a:r>
              <a:rPr lang="ru-RU" dirty="0" err="1" smtClean="0"/>
              <a:t>різноманітність</a:t>
            </a:r>
            <a:r>
              <a:rPr lang="ru-RU" dirty="0" smtClean="0"/>
              <a:t> </a:t>
            </a:r>
            <a:r>
              <a:rPr lang="ru-RU" dirty="0" err="1" smtClean="0"/>
              <a:t>рекомендацій</a:t>
            </a:r>
            <a:r>
              <a:rPr lang="ru-RU" dirty="0" smtClean="0"/>
              <a:t> </a:t>
            </a:r>
            <a:r>
              <a:rPr lang="ru-RU" dirty="0" err="1" smtClean="0"/>
              <a:t>і</a:t>
            </a:r>
            <a:r>
              <a:rPr lang="ru-RU" dirty="0" smtClean="0"/>
              <a:t> </a:t>
            </a:r>
            <a:r>
              <a:rPr lang="ru-RU" dirty="0" err="1" smtClean="0"/>
              <a:t>запобігає</a:t>
            </a:r>
            <a:r>
              <a:rPr lang="ru-RU" dirty="0" smtClean="0"/>
              <a:t> </a:t>
            </a:r>
            <a:r>
              <a:rPr lang="ru-RU" dirty="0" err="1" smtClean="0"/>
              <a:t>ефекту</a:t>
            </a:r>
            <a:r>
              <a:rPr lang="ru-RU" dirty="0" smtClean="0"/>
              <a:t> </a:t>
            </a:r>
            <a:r>
              <a:rPr lang="ru-RU" dirty="0" err="1" smtClean="0"/>
              <a:t>фільтрованої</a:t>
            </a:r>
            <a:r>
              <a:rPr lang="ru-RU" dirty="0" smtClean="0"/>
              <a:t> </a:t>
            </a:r>
            <a:r>
              <a:rPr lang="ru-RU" dirty="0" err="1" smtClean="0"/>
              <a:t>бульбашки</a:t>
            </a:r>
            <a:r>
              <a:rPr lang="ru-RU" dirty="0" smtClean="0"/>
              <a:t>.</a:t>
            </a:r>
            <a:endParaRPr lang="uk-UA" sz="1100" dirty="0">
              <a:highlight>
                <a:srgbClr val="FFFFFF"/>
              </a:highlight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xmlns="" id="{5F34A6E1-11F9-373F-0332-243D4BF1A6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7762B96-DD03-E769-CE60-A1D2169FC87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13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10F2EF6-4F30-EC7C-28B5-38C3A2C93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006" y="378134"/>
            <a:ext cx="3259306" cy="427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995659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46259BBF-8BF1-6420-D069-82D53BDA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xmlns="" id="{58D4E8E6-F0E0-321A-B6C3-33FA392983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-108820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xmlns="" id="{1B410504-9661-A4F7-4A94-A76495C9D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5" y="679312"/>
            <a:ext cx="3700101" cy="3816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1200" dirty="0" smtClean="0"/>
              <a:t>REST API </a:t>
            </a:r>
            <a:r>
              <a:rPr lang="en-US" sz="1200" dirty="0" err="1" smtClean="0"/>
              <a:t>Bokado</a:t>
            </a:r>
            <a:r>
              <a:rPr lang="en-US" sz="1200" dirty="0" smtClean="0"/>
              <a:t> </a:t>
            </a:r>
            <a:r>
              <a:rPr lang="ru-RU" sz="1200" dirty="0" err="1" smtClean="0"/>
              <a:t>містить</a:t>
            </a:r>
            <a:r>
              <a:rPr lang="ru-RU" sz="1200" dirty="0" smtClean="0"/>
              <a:t> </a:t>
            </a:r>
            <a:r>
              <a:rPr lang="ru-RU" sz="1200" dirty="0" err="1" smtClean="0"/>
              <a:t>тринадцять</a:t>
            </a:r>
            <a:r>
              <a:rPr lang="ru-RU" sz="1200" dirty="0" smtClean="0"/>
              <a:t> </a:t>
            </a:r>
            <a:r>
              <a:rPr lang="ru-RU" sz="1200" dirty="0" err="1" smtClean="0"/>
              <a:t>контролерів</a:t>
            </a:r>
            <a:r>
              <a:rPr lang="ru-RU" sz="1200" dirty="0" smtClean="0"/>
              <a:t>. </a:t>
            </a:r>
            <a:r>
              <a:rPr lang="en-US" sz="1200" dirty="0" err="1" smtClean="0"/>
              <a:t>AuthController</a:t>
            </a:r>
            <a:r>
              <a:rPr lang="en-US" sz="1200" dirty="0" smtClean="0"/>
              <a:t> </a:t>
            </a:r>
            <a:r>
              <a:rPr lang="ru-RU" sz="1200" dirty="0" err="1" smtClean="0"/>
              <a:t>охоплює</a:t>
            </a:r>
            <a:r>
              <a:rPr lang="ru-RU" sz="1200" dirty="0" smtClean="0"/>
              <a:t> </a:t>
            </a:r>
            <a:r>
              <a:rPr lang="ru-RU" sz="1200" dirty="0" err="1" smtClean="0"/>
              <a:t>реєстрацію</a:t>
            </a:r>
            <a:r>
              <a:rPr lang="ru-RU" sz="1200" dirty="0" smtClean="0"/>
              <a:t>, </a:t>
            </a:r>
            <a:r>
              <a:rPr lang="ru-RU" sz="1200" dirty="0" err="1" smtClean="0"/>
              <a:t>вхід</a:t>
            </a:r>
            <a:r>
              <a:rPr lang="ru-RU" sz="1200" dirty="0" smtClean="0"/>
              <a:t> та </a:t>
            </a:r>
            <a:r>
              <a:rPr lang="en-US" sz="1200" dirty="0" smtClean="0"/>
              <a:t>Google </a:t>
            </a:r>
            <a:r>
              <a:rPr lang="en-US" sz="1200" dirty="0" err="1" smtClean="0"/>
              <a:t>OAuth</a:t>
            </a:r>
            <a:r>
              <a:rPr lang="en-US" sz="1200" dirty="0" smtClean="0"/>
              <a:t>. </a:t>
            </a:r>
            <a:r>
              <a:rPr lang="en-US" sz="1200" dirty="0" err="1" smtClean="0"/>
              <a:t>AdminController</a:t>
            </a:r>
            <a:r>
              <a:rPr lang="en-US" sz="1200" dirty="0" smtClean="0"/>
              <a:t> </a:t>
            </a:r>
            <a:r>
              <a:rPr lang="ru-RU" sz="1200" dirty="0" err="1" smtClean="0"/>
              <a:t>надає</a:t>
            </a:r>
            <a:r>
              <a:rPr lang="ru-RU" sz="1200" dirty="0" smtClean="0"/>
              <a:t> </a:t>
            </a:r>
            <a:r>
              <a:rPr lang="ru-RU" sz="1200" dirty="0" err="1" smtClean="0"/>
              <a:t>управління</a:t>
            </a:r>
            <a:r>
              <a:rPr lang="ru-RU" sz="1200" dirty="0" smtClean="0"/>
              <a:t> </a:t>
            </a:r>
            <a:r>
              <a:rPr lang="ru-RU" sz="1200" dirty="0" err="1" smtClean="0"/>
              <a:t>користувачами</a:t>
            </a:r>
            <a:r>
              <a:rPr lang="ru-RU" sz="1200" dirty="0" smtClean="0"/>
              <a:t>, </a:t>
            </a:r>
            <a:r>
              <a:rPr lang="ru-RU" sz="1200" dirty="0" err="1" smtClean="0"/>
              <a:t>блокуванням</a:t>
            </a:r>
            <a:r>
              <a:rPr lang="ru-RU" sz="1200" dirty="0" smtClean="0"/>
              <a:t> та </a:t>
            </a:r>
            <a:r>
              <a:rPr lang="ru-RU" sz="1200" dirty="0" err="1" smtClean="0"/>
              <a:t>челенджами</a:t>
            </a:r>
            <a:r>
              <a:rPr lang="ru-RU" sz="1200" dirty="0" smtClean="0"/>
              <a:t>. </a:t>
            </a:r>
            <a:r>
              <a:rPr lang="en-US" sz="1200" dirty="0" err="1" smtClean="0"/>
              <a:t>ChatController</a:t>
            </a:r>
            <a:r>
              <a:rPr lang="en-US" sz="1200" dirty="0" smtClean="0"/>
              <a:t> </a:t>
            </a:r>
            <a:r>
              <a:rPr lang="ru-RU" sz="1200" dirty="0" err="1" smtClean="0"/>
              <a:t>обробляє</a:t>
            </a:r>
            <a:r>
              <a:rPr lang="ru-RU" sz="1200" dirty="0" smtClean="0"/>
              <a:t> </a:t>
            </a:r>
            <a:r>
              <a:rPr lang="ru-RU" sz="1200" dirty="0" err="1" smtClean="0"/>
              <a:t>чати</a:t>
            </a:r>
            <a:r>
              <a:rPr lang="ru-RU" sz="1200" dirty="0" smtClean="0"/>
              <a:t> та </a:t>
            </a:r>
            <a:r>
              <a:rPr lang="ru-RU" sz="1200" dirty="0" err="1" smtClean="0"/>
              <a:t>повідомлення</a:t>
            </a:r>
            <a:r>
              <a:rPr lang="ru-RU" sz="1200" dirty="0" smtClean="0"/>
              <a:t> </a:t>
            </a:r>
            <a:r>
              <a:rPr lang="ru-RU" sz="1200" dirty="0" err="1" smtClean="0"/>
              <a:t>з</a:t>
            </a:r>
            <a:r>
              <a:rPr lang="ru-RU" sz="1200" dirty="0" smtClean="0"/>
              <a:t> </a:t>
            </a:r>
            <a:r>
              <a:rPr lang="ru-RU" sz="1200" dirty="0" err="1" smtClean="0"/>
              <a:t>вкладеннями</a:t>
            </a:r>
            <a:r>
              <a:rPr lang="ru-RU" sz="1200" dirty="0" smtClean="0"/>
              <a:t>, </a:t>
            </a:r>
            <a:r>
              <a:rPr lang="en-US" sz="1200" dirty="0" err="1" smtClean="0"/>
              <a:t>GroupController</a:t>
            </a:r>
            <a:r>
              <a:rPr lang="en-US" sz="1200" dirty="0" smtClean="0"/>
              <a:t> — CRUD </a:t>
            </a:r>
            <a:r>
              <a:rPr lang="ru-RU" sz="1200" dirty="0" err="1" smtClean="0"/>
              <a:t>груп</a:t>
            </a:r>
            <a:r>
              <a:rPr lang="ru-RU" sz="1200" dirty="0" smtClean="0"/>
              <a:t>, </a:t>
            </a:r>
            <a:r>
              <a:rPr lang="ru-RU" sz="1200" dirty="0" err="1" smtClean="0"/>
              <a:t>рекомендації</a:t>
            </a:r>
            <a:r>
              <a:rPr lang="ru-RU" sz="1200" dirty="0" smtClean="0"/>
              <a:t> та </a:t>
            </a:r>
            <a:r>
              <a:rPr lang="ru-RU" sz="1200" dirty="0" err="1" smtClean="0"/>
              <a:t>відеодзвінки</a:t>
            </a:r>
            <a:r>
              <a:rPr lang="ru-RU" sz="1200" dirty="0" smtClean="0"/>
              <a:t> через </a:t>
            </a:r>
            <a:r>
              <a:rPr lang="en-US" sz="1200" dirty="0" err="1" smtClean="0"/>
              <a:t>Jitsi</a:t>
            </a:r>
            <a:r>
              <a:rPr lang="en-US" sz="1200" dirty="0" smtClean="0"/>
              <a:t> Meet. </a:t>
            </a:r>
            <a:r>
              <a:rPr lang="en-US" sz="1200" dirty="0" err="1" smtClean="0"/>
              <a:t>FriendsController</a:t>
            </a:r>
            <a:r>
              <a:rPr lang="en-US" sz="1200" dirty="0" smtClean="0"/>
              <a:t> </a:t>
            </a:r>
            <a:r>
              <a:rPr lang="ru-RU" sz="1200" dirty="0" err="1" smtClean="0"/>
              <a:t>реалізує</a:t>
            </a:r>
            <a:r>
              <a:rPr lang="ru-RU" sz="1200" dirty="0" smtClean="0"/>
              <a:t> </a:t>
            </a:r>
            <a:r>
              <a:rPr lang="ru-RU" sz="1200" dirty="0" err="1" smtClean="0"/>
              <a:t>пошук</a:t>
            </a:r>
            <a:r>
              <a:rPr lang="ru-RU" sz="1200" dirty="0" smtClean="0"/>
              <a:t> та </a:t>
            </a:r>
            <a:r>
              <a:rPr lang="ru-RU" sz="1200" dirty="0" err="1" smtClean="0"/>
              <a:t>запити</a:t>
            </a:r>
            <a:r>
              <a:rPr lang="ru-RU" sz="1200" dirty="0" smtClean="0"/>
              <a:t> на дружбу, </a:t>
            </a:r>
            <a:r>
              <a:rPr lang="en-US" sz="1200" dirty="0" err="1" smtClean="0"/>
              <a:t>EventController</a:t>
            </a:r>
            <a:r>
              <a:rPr lang="en-US" sz="1200" dirty="0" smtClean="0"/>
              <a:t> </a:t>
            </a:r>
            <a:r>
              <a:rPr lang="ru-RU" sz="1200" dirty="0" err="1" smtClean="0"/>
              <a:t>і</a:t>
            </a:r>
            <a:r>
              <a:rPr lang="ru-RU" sz="1200" dirty="0" smtClean="0"/>
              <a:t> </a:t>
            </a:r>
            <a:r>
              <a:rPr lang="en-US" sz="1200" dirty="0" err="1" smtClean="0"/>
              <a:t>ChallengeController</a:t>
            </a:r>
            <a:r>
              <a:rPr lang="en-US" sz="1200" dirty="0" smtClean="0"/>
              <a:t> — </a:t>
            </a:r>
            <a:r>
              <a:rPr lang="ru-RU" sz="1200" dirty="0" err="1" smtClean="0"/>
              <a:t>події</a:t>
            </a:r>
            <a:r>
              <a:rPr lang="ru-RU" sz="1200" dirty="0" smtClean="0"/>
              <a:t> та </a:t>
            </a:r>
            <a:r>
              <a:rPr lang="ru-RU" sz="1200" dirty="0" err="1" smtClean="0"/>
              <a:t>завдання</a:t>
            </a:r>
            <a:r>
              <a:rPr lang="ru-RU" sz="1200" dirty="0" smtClean="0"/>
              <a:t>. </a:t>
            </a:r>
            <a:r>
              <a:rPr lang="ru-RU" sz="1200" dirty="0" err="1" smtClean="0"/>
              <a:t>Окремо</a:t>
            </a:r>
            <a:r>
              <a:rPr lang="ru-RU" sz="1200" dirty="0" smtClean="0"/>
              <a:t> </a:t>
            </a:r>
            <a:r>
              <a:rPr lang="ru-RU" sz="1200" dirty="0" err="1" smtClean="0"/>
              <a:t>виділено</a:t>
            </a:r>
            <a:r>
              <a:rPr lang="ru-RU" sz="1200" dirty="0" smtClean="0"/>
              <a:t> </a:t>
            </a:r>
            <a:r>
              <a:rPr lang="en-US" sz="1200" dirty="0" err="1" smtClean="0"/>
              <a:t>PostController</a:t>
            </a:r>
            <a:r>
              <a:rPr lang="en-US" sz="1200" dirty="0" smtClean="0"/>
              <a:t>, </a:t>
            </a:r>
            <a:r>
              <a:rPr lang="en-US" sz="1200" dirty="0" err="1" smtClean="0"/>
              <a:t>NotificationController</a:t>
            </a:r>
            <a:r>
              <a:rPr lang="en-US" sz="1200" dirty="0" smtClean="0"/>
              <a:t>, </a:t>
            </a:r>
            <a:r>
              <a:rPr lang="en-US" sz="1200" dirty="0" err="1" smtClean="0"/>
              <a:t>UserController</a:t>
            </a:r>
            <a:r>
              <a:rPr lang="en-US" sz="1200" dirty="0" smtClean="0"/>
              <a:t>, </a:t>
            </a:r>
            <a:r>
              <a:rPr lang="en-US" sz="1200" dirty="0" err="1" smtClean="0"/>
              <a:t>StatsController</a:t>
            </a:r>
            <a:r>
              <a:rPr lang="en-US" sz="1200" dirty="0" smtClean="0"/>
              <a:t> </a:t>
            </a:r>
            <a:r>
              <a:rPr lang="ru-RU" sz="1200" dirty="0" smtClean="0"/>
              <a:t>та </a:t>
            </a:r>
            <a:r>
              <a:rPr lang="en-US" sz="1200" dirty="0" err="1" smtClean="0"/>
              <a:t>LiqPayController</a:t>
            </a:r>
            <a:r>
              <a:rPr lang="en-US" sz="1200" dirty="0" smtClean="0"/>
              <a:t>.</a:t>
            </a:r>
            <a:endParaRPr lang="uk-UA" sz="1200" dirty="0">
              <a:highlight>
                <a:srgbClr val="FFFFFF"/>
              </a:highlight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xmlns="" id="{2544AC2B-C389-FE26-88CD-A5B08AF05C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3EA5789-04D0-A576-5DB8-CDC2AFBDFB5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14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958354D-8D7E-8BBE-A35D-34F44F73B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168" y="88510"/>
            <a:ext cx="2434260" cy="47551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D614200-482B-43D4-4600-EFA787FB1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307" y="793373"/>
            <a:ext cx="2736212" cy="37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45777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xmlns="" id="{D006367F-53BF-00AA-AE29-2AC4355D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xmlns="" id="{D32FDE7B-99B4-F646-339D-0E7C2846D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781" y="-108820"/>
            <a:ext cx="8703511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Тестування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xmlns="" id="{ABEE23EA-F895-2D32-CC58-7AE62522F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5" y="679312"/>
            <a:ext cx="3700101" cy="3816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Тестування серверної частини </a:t>
            </a:r>
            <a:r>
              <a:rPr lang="uk-UA" sz="1000" dirty="0" err="1">
                <a:highlight>
                  <a:srgbClr val="FFFFFF"/>
                </a:highlight>
              </a:rPr>
              <a:t>Bokado</a:t>
            </a:r>
            <a:r>
              <a:rPr lang="uk-UA" sz="1000" dirty="0">
                <a:highlight>
                  <a:srgbClr val="FFFFFF"/>
                </a:highlight>
              </a:rPr>
              <a:t> проводилось методом мануального тестування через вбудовану документацію </a:t>
            </a:r>
            <a:r>
              <a:rPr lang="uk-UA" sz="1000" dirty="0" err="1">
                <a:highlight>
                  <a:srgbClr val="FFFFFF"/>
                </a:highlight>
              </a:rPr>
              <a:t>Swagger</a:t>
            </a:r>
            <a:r>
              <a:rPr lang="uk-UA" sz="1000" dirty="0">
                <a:highlight>
                  <a:srgbClr val="FFFFFF"/>
                </a:highlight>
              </a:rPr>
              <a:t> UI.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Тест-кейс ТК-01 перевіряв реєстрацію та авторизацію. Підтверджено що пароль зберігається у вигляді </a:t>
            </a:r>
            <a:r>
              <a:rPr lang="uk-UA" sz="1000" dirty="0" err="1">
                <a:highlight>
                  <a:srgbClr val="FFFFFF"/>
                </a:highlight>
              </a:rPr>
              <a:t>BCrypt</a:t>
            </a:r>
            <a:r>
              <a:rPr lang="uk-UA" sz="1000" dirty="0">
                <a:highlight>
                  <a:srgbClr val="FFFFFF"/>
                </a:highlight>
              </a:rPr>
              <a:t>-хешу, JWT-токен генерується </a:t>
            </a:r>
            <a:r>
              <a:rPr lang="uk-UA" sz="1000" dirty="0" err="1">
                <a:highlight>
                  <a:srgbClr val="FFFFFF"/>
                </a:highlight>
              </a:rPr>
              <a:t>коректно</a:t>
            </a:r>
            <a:r>
              <a:rPr lang="uk-UA" sz="1000" dirty="0">
                <a:highlight>
                  <a:srgbClr val="FFFFFF"/>
                </a:highlight>
              </a:rPr>
              <a:t>, </a:t>
            </a:r>
            <a:r>
              <a:rPr lang="uk-UA" sz="1000" dirty="0" err="1">
                <a:highlight>
                  <a:srgbClr val="FFFFFF"/>
                </a:highlight>
              </a:rPr>
              <a:t>валідація</a:t>
            </a:r>
            <a:r>
              <a:rPr lang="uk-UA" sz="1000" dirty="0">
                <a:highlight>
                  <a:srgbClr val="FFFFFF"/>
                </a:highlight>
              </a:rPr>
              <a:t> </a:t>
            </a:r>
            <a:r>
              <a:rPr lang="uk-UA" sz="1000" dirty="0" err="1">
                <a:highlight>
                  <a:srgbClr val="FFFFFF"/>
                </a:highlight>
              </a:rPr>
              <a:t>email</a:t>
            </a:r>
            <a:r>
              <a:rPr lang="uk-UA" sz="1000" dirty="0">
                <a:highlight>
                  <a:srgbClr val="FFFFFF"/>
                </a:highlight>
              </a:rPr>
              <a:t> та </a:t>
            </a:r>
            <a:r>
              <a:rPr lang="uk-UA" sz="1000" dirty="0" err="1">
                <a:highlight>
                  <a:srgbClr val="FFFFFF"/>
                </a:highlight>
              </a:rPr>
              <a:t>нікнейму</a:t>
            </a:r>
            <a:r>
              <a:rPr lang="uk-UA" sz="1000" dirty="0">
                <a:highlight>
                  <a:srgbClr val="FFFFFF"/>
                </a:highlight>
              </a:rPr>
              <a:t> працює. Тест пройдено.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Тест-кейс ТК-02 перевіряв систему дружби — надсилання запитів, прийняття з автоматичним додаванням симетричних записів у таблицю </a:t>
            </a:r>
            <a:r>
              <a:rPr lang="uk-UA" sz="1000" dirty="0" err="1">
                <a:highlight>
                  <a:srgbClr val="FFFFFF"/>
                </a:highlight>
              </a:rPr>
              <a:t>friendships</a:t>
            </a:r>
            <a:r>
              <a:rPr lang="uk-UA" sz="1000" dirty="0">
                <a:highlight>
                  <a:srgbClr val="FFFFFF"/>
                </a:highlight>
              </a:rPr>
              <a:t>, захист від дублювання запитів. Тест пройдено.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Тест-кейс ТК-03 перевіряв ліміти груп: звичайний користувач отримує 403 при спробі створити четверту групу, Premium-власник може мати необмежену кількість груп з лімітом 100 учасників. Тест пройдено.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Тест-кейси ТК-04, ТК-05 та ТК-06 підтвердили коректну роботу </a:t>
            </a:r>
            <a:r>
              <a:rPr lang="uk-UA" sz="1000" dirty="0" err="1">
                <a:highlight>
                  <a:srgbClr val="FFFFFF"/>
                </a:highlight>
              </a:rPr>
              <a:t>SignalR</a:t>
            </a:r>
            <a:r>
              <a:rPr lang="uk-UA" sz="1000" dirty="0">
                <a:highlight>
                  <a:srgbClr val="FFFFFF"/>
                </a:highlight>
              </a:rPr>
              <a:t>, нарахування балів за </a:t>
            </a:r>
            <a:r>
              <a:rPr lang="uk-UA" sz="1000" dirty="0" err="1">
                <a:highlight>
                  <a:srgbClr val="FFFFFF"/>
                </a:highlight>
              </a:rPr>
              <a:t>челенджі</a:t>
            </a:r>
            <a:r>
              <a:rPr lang="uk-UA" sz="1000" dirty="0">
                <a:highlight>
                  <a:srgbClr val="FFFFFF"/>
                </a:highlight>
              </a:rPr>
              <a:t> з захистом від повторного нарахування, та блокування </a:t>
            </a:r>
            <a:r>
              <a:rPr lang="uk-UA" sz="1000" dirty="0" err="1">
                <a:highlight>
                  <a:srgbClr val="FFFFFF"/>
                </a:highlight>
              </a:rPr>
              <a:t>адмін-endpoint-ів</a:t>
            </a:r>
            <a:r>
              <a:rPr lang="uk-UA" sz="1000" dirty="0">
                <a:highlight>
                  <a:srgbClr val="FFFFFF"/>
                </a:highlight>
              </a:rPr>
              <a:t> для звичайних користувачів з поверненням 403 </a:t>
            </a:r>
            <a:r>
              <a:rPr lang="uk-UA" sz="1000" dirty="0" err="1">
                <a:highlight>
                  <a:srgbClr val="FFFFFF"/>
                </a:highlight>
              </a:rPr>
              <a:t>Forbidden</a:t>
            </a:r>
            <a:r>
              <a:rPr lang="uk-UA" sz="1000" dirty="0">
                <a:highlight>
                  <a:srgbClr val="FFFFFF"/>
                </a:highlight>
              </a:rPr>
              <a:t>.</a:t>
            </a:r>
          </a:p>
          <a:p>
            <a:pPr marL="114300" indent="0">
              <a:buNone/>
            </a:pPr>
            <a:r>
              <a:rPr lang="uk-UA" sz="1000" dirty="0">
                <a:highlight>
                  <a:srgbClr val="FFFFFF"/>
                </a:highlight>
              </a:rPr>
              <a:t>Середній час відповіді API становить 150 </a:t>
            </a:r>
            <a:r>
              <a:rPr lang="uk-UA" sz="1000" dirty="0" err="1">
                <a:highlight>
                  <a:srgbClr val="FFFFFF"/>
                </a:highlight>
              </a:rPr>
              <a:t>мілісекунд</a:t>
            </a:r>
            <a:r>
              <a:rPr lang="uk-UA" sz="1000" dirty="0">
                <a:highlight>
                  <a:srgbClr val="FFFFFF"/>
                </a:highlight>
              </a:rPr>
              <a:t> для простих запитів та 320 </a:t>
            </a:r>
            <a:r>
              <a:rPr lang="uk-UA" sz="1000" dirty="0" err="1">
                <a:highlight>
                  <a:srgbClr val="FFFFFF"/>
                </a:highlight>
              </a:rPr>
              <a:t>мілісекунд</a:t>
            </a:r>
            <a:r>
              <a:rPr lang="uk-UA" sz="1000" dirty="0">
                <a:highlight>
                  <a:srgbClr val="FFFFFF"/>
                </a:highlight>
              </a:rPr>
              <a:t> для складних операцій. Захист від SQL </a:t>
            </a:r>
            <a:r>
              <a:rPr lang="uk-UA" sz="1000" dirty="0" err="1">
                <a:highlight>
                  <a:srgbClr val="FFFFFF"/>
                </a:highlight>
              </a:rPr>
              <a:t>Injection</a:t>
            </a:r>
            <a:r>
              <a:rPr lang="uk-UA" sz="1000" dirty="0">
                <a:highlight>
                  <a:srgbClr val="FFFFFF"/>
                </a:highlight>
              </a:rPr>
              <a:t>, XSS та CSRF підтверджено тестуванням.</a:t>
            </a: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xmlns="" id="{8E52623E-E797-8D49-B3C7-527B725B05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B4445BA-3A35-5B5B-76B9-CA3FF3A703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15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7EAEAD2-CE99-D2CB-2DC0-89C31A7F466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7963" y="796292"/>
            <a:ext cx="4071034" cy="34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951984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Підсумки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pPr/>
              <a:t>16</a:t>
            </a:fld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93F8E46-1DC9-2F87-F1B9-DB5FBDFACA00}"/>
              </a:ext>
            </a:extLst>
          </p:cNvPr>
          <p:cNvSpPr txBox="1"/>
          <p:nvPr/>
        </p:nvSpPr>
        <p:spPr>
          <a:xfrm>
            <a:off x="268925" y="641464"/>
            <a:ext cx="76448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 результаті виконання роботи було розроблено повнофункціональний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back-end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веб-додатку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Bokado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Побудовано масштабовану шарову архітектуру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Controllers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Repositories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тринадцятьма REST-контролерами та дванадцятьма репозиторіями, кожен з яких реалізує відповідний інтерфейс.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Реалізовано захищену JWT-автентифікацію з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BCrypt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-хешуванням паролів, рольовою авторизацією та підтримкою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OAuth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Створено алгоритм рекомендацій груп на основі чотирьох зважених критеріїв — місто, спільні інтереси, свіжість і популярність — із зваженим випадковим відбором результатів.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Інтегровано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SignalR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ChatHub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NotificationHub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комунікації,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Cloudinary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CDN для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медіафайлів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SMTP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Gmail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розсилки листів та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LiqPay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обробки платежів.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Забезпечено ефективну роботу з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15 через вісімнадцять таблиць та EF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міграції з автоматичним застосуванням при запуску.</a:t>
            </a:r>
          </a:p>
          <a:p>
            <a:pPr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Розроблений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back-end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є повноцінною основою для подальшого розширення платформи — мобільний застосунок,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відеодзвінки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ML-рекомендації.</a:t>
            </a:r>
          </a:p>
        </p:txBody>
      </p:sp>
    </p:spTree>
    <p:extLst>
      <p:ext uri="{BB962C8B-B14F-4D97-AF65-F5344CB8AC3E}">
        <p14:creationId xmlns:p14="http://schemas.microsoft.com/office/powerpoint/2010/main" xmlns="" val="299400746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248</TotalTime>
  <Words>1573</Words>
  <Application>Microsoft Office PowerPoint</Application>
  <PresentationFormat>Экран (16:9)</PresentationFormat>
  <Paragraphs>92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Economica</vt:lpstr>
      <vt:lpstr>Open Sans</vt:lpstr>
      <vt:lpstr>Шаблон презентації кваліфікаційної роботи магістрів</vt:lpstr>
      <vt:lpstr>Веб-додаток для пошуку друзів. Back – end.</vt:lpstr>
      <vt:lpstr>Мета роботи</vt:lpstr>
      <vt:lpstr>Аналіз проблеми (аналіз існуючих рішень) </vt:lpstr>
      <vt:lpstr>Аналіз проблеми (аналіз існуючих рішень) </vt:lpstr>
      <vt:lpstr>Вибір технологій розробки </vt:lpstr>
      <vt:lpstr>Архітектура створенного програмного забезпечення </vt:lpstr>
      <vt:lpstr>Архітектура створенного програмного забезпечення </vt:lpstr>
      <vt:lpstr>Опис програмного забезпечення, що було використано у дослідженнях</vt:lpstr>
      <vt:lpstr>Дизайн системи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Приклад реалізації</vt:lpstr>
      <vt:lpstr>Тестування</vt:lpstr>
      <vt:lpstr>Підсумки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Веб-додаток для пошуку друзів</dc:title>
  <dc:creator>Анастасія Бистрицька</dc:creator>
  <cp:lastModifiedBy>Shurican Колесник</cp:lastModifiedBy>
  <cp:revision>11</cp:revision>
  <dcterms:created xsi:type="dcterms:W3CDTF">2025-06-22T16:33:19Z</dcterms:created>
  <dcterms:modified xsi:type="dcterms:W3CDTF">2026-06-25T12:47:39Z</dcterms:modified>
</cp:coreProperties>
</file>